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9" r:id="rId3"/>
    <p:sldId id="263" r:id="rId4"/>
    <p:sldId id="262" r:id="rId5"/>
    <p:sldId id="266" r:id="rId6"/>
    <p:sldId id="294" r:id="rId7"/>
    <p:sldId id="268" r:id="rId8"/>
    <p:sldId id="278" r:id="rId9"/>
    <p:sldId id="282" r:id="rId10"/>
    <p:sldId id="270" r:id="rId11"/>
    <p:sldId id="260" r:id="rId12"/>
    <p:sldId id="293" r:id="rId13"/>
    <p:sldId id="295" r:id="rId14"/>
    <p:sldId id="281" r:id="rId15"/>
    <p:sldId id="274" r:id="rId16"/>
    <p:sldId id="288" r:id="rId17"/>
    <p:sldId id="29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00D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0767" autoAdjust="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outlineViewPr>
    <p:cViewPr>
      <p:scale>
        <a:sx n="33" d="100"/>
        <a:sy n="33" d="100"/>
      </p:scale>
      <p:origin x="0" y="-10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11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Wakely-Mulroney" userId="c907ba738c905d3a" providerId="LiveId" clId="{4D45D079-7658-4CBC-BC30-F7315E9609FD}"/>
    <pc:docChg chg="undo redo custSel addSld delSld modSld">
      <pc:chgData name="Aidan Wakely-Mulroney" userId="c907ba738c905d3a" providerId="LiveId" clId="{4D45D079-7658-4CBC-BC30-F7315E9609FD}" dt="2026-03-17T15:21:06.037" v="41" actId="20577"/>
      <pc:docMkLst>
        <pc:docMk/>
      </pc:docMkLst>
      <pc:sldChg chg="del">
        <pc:chgData name="Aidan Wakely-Mulroney" userId="c907ba738c905d3a" providerId="LiveId" clId="{4D45D079-7658-4CBC-BC30-F7315E9609FD}" dt="2026-03-17T15:15:37.192" v="0" actId="47"/>
        <pc:sldMkLst>
          <pc:docMk/>
          <pc:sldMk cId="2680531733" sldId="257"/>
        </pc:sldMkLst>
      </pc:sldChg>
      <pc:sldChg chg="del">
        <pc:chgData name="Aidan Wakely-Mulroney" userId="c907ba738c905d3a" providerId="LiveId" clId="{4D45D079-7658-4CBC-BC30-F7315E9609FD}" dt="2026-03-17T15:16:13.011" v="4" actId="47"/>
        <pc:sldMkLst>
          <pc:docMk/>
          <pc:sldMk cId="3757815663" sldId="261"/>
        </pc:sldMkLst>
      </pc:sldChg>
      <pc:sldChg chg="add del">
        <pc:chgData name="Aidan Wakely-Mulroney" userId="c907ba738c905d3a" providerId="LiveId" clId="{4D45D079-7658-4CBC-BC30-F7315E9609FD}" dt="2026-03-17T15:15:47.502" v="3" actId="47"/>
        <pc:sldMkLst>
          <pc:docMk/>
          <pc:sldMk cId="3633463195" sldId="271"/>
        </pc:sldMkLst>
      </pc:sldChg>
      <pc:sldChg chg="del">
        <pc:chgData name="Aidan Wakely-Mulroney" userId="c907ba738c905d3a" providerId="LiveId" clId="{4D45D079-7658-4CBC-BC30-F7315E9609FD}" dt="2026-03-17T15:16:42.510" v="5" actId="47"/>
        <pc:sldMkLst>
          <pc:docMk/>
          <pc:sldMk cId="3753233745" sldId="275"/>
        </pc:sldMkLst>
      </pc:sldChg>
      <pc:sldChg chg="del">
        <pc:chgData name="Aidan Wakely-Mulroney" userId="c907ba738c905d3a" providerId="LiveId" clId="{4D45D079-7658-4CBC-BC30-F7315E9609FD}" dt="2026-03-17T15:16:42.510" v="5" actId="47"/>
        <pc:sldMkLst>
          <pc:docMk/>
          <pc:sldMk cId="3722276526" sldId="283"/>
        </pc:sldMkLst>
      </pc:sldChg>
      <pc:sldChg chg="del">
        <pc:chgData name="Aidan Wakely-Mulroney" userId="c907ba738c905d3a" providerId="LiveId" clId="{4D45D079-7658-4CBC-BC30-F7315E9609FD}" dt="2026-03-17T15:16:42.510" v="5" actId="47"/>
        <pc:sldMkLst>
          <pc:docMk/>
          <pc:sldMk cId="2760929288" sldId="284"/>
        </pc:sldMkLst>
      </pc:sldChg>
      <pc:sldChg chg="del">
        <pc:chgData name="Aidan Wakely-Mulroney" userId="c907ba738c905d3a" providerId="LiveId" clId="{4D45D079-7658-4CBC-BC30-F7315E9609FD}" dt="2026-03-17T15:16:59.281" v="6" actId="47"/>
        <pc:sldMkLst>
          <pc:docMk/>
          <pc:sldMk cId="2895434772" sldId="286"/>
        </pc:sldMkLst>
      </pc:sldChg>
      <pc:sldChg chg="del">
        <pc:chgData name="Aidan Wakely-Mulroney" userId="c907ba738c905d3a" providerId="LiveId" clId="{4D45D079-7658-4CBC-BC30-F7315E9609FD}" dt="2026-03-17T15:16:59.281" v="6" actId="47"/>
        <pc:sldMkLst>
          <pc:docMk/>
          <pc:sldMk cId="2896929002" sldId="287"/>
        </pc:sldMkLst>
      </pc:sldChg>
      <pc:sldChg chg="del">
        <pc:chgData name="Aidan Wakely-Mulroney" userId="c907ba738c905d3a" providerId="LiveId" clId="{4D45D079-7658-4CBC-BC30-F7315E9609FD}" dt="2026-03-17T15:16:59.281" v="6" actId="47"/>
        <pc:sldMkLst>
          <pc:docMk/>
          <pc:sldMk cId="1587752821" sldId="290"/>
        </pc:sldMkLst>
      </pc:sldChg>
      <pc:sldChg chg="del">
        <pc:chgData name="Aidan Wakely-Mulroney" userId="c907ba738c905d3a" providerId="LiveId" clId="{4D45D079-7658-4CBC-BC30-F7315E9609FD}" dt="2026-03-17T15:16:59.281" v="6" actId="47"/>
        <pc:sldMkLst>
          <pc:docMk/>
          <pc:sldMk cId="3806036883" sldId="291"/>
        </pc:sldMkLst>
      </pc:sldChg>
      <pc:sldChg chg="modSp mod">
        <pc:chgData name="Aidan Wakely-Mulroney" userId="c907ba738c905d3a" providerId="LiveId" clId="{4D45D079-7658-4CBC-BC30-F7315E9609FD}" dt="2026-03-17T15:21:06.037" v="41" actId="20577"/>
        <pc:sldMkLst>
          <pc:docMk/>
          <pc:sldMk cId="3477139228" sldId="293"/>
        </pc:sldMkLst>
        <pc:spChg chg="mod">
          <ac:chgData name="Aidan Wakely-Mulroney" userId="c907ba738c905d3a" providerId="LiveId" clId="{4D45D079-7658-4CBC-BC30-F7315E9609FD}" dt="2026-03-17T15:19:38.950" v="31" actId="20577"/>
          <ac:spMkLst>
            <pc:docMk/>
            <pc:sldMk cId="3477139228" sldId="293"/>
            <ac:spMk id="6" creationId="{D71508F6-F86A-02BA-657C-A0C188981806}"/>
          </ac:spMkLst>
        </pc:spChg>
        <pc:graphicFrameChg chg="mod modGraphic">
          <ac:chgData name="Aidan Wakely-Mulroney" userId="c907ba738c905d3a" providerId="LiveId" clId="{4D45D079-7658-4CBC-BC30-F7315E9609FD}" dt="2026-03-17T15:21:06.037" v="41" actId="20577"/>
          <ac:graphicFrameMkLst>
            <pc:docMk/>
            <pc:sldMk cId="3477139228" sldId="293"/>
            <ac:graphicFrameMk id="5" creationId="{075F45C5-D5CE-636C-9D1F-B3B37072DF8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9F33A-5F67-430C-BD09-541216023233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FD4A6-C76C-496F-BFAD-A87BA6EEB15B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2453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John Wilkins was a fellow of the Royal Society and eventually a bishop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Throughout the early 1660s, he toiled at an ambitious and three-part task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categorization of all knowledge,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Developing a language that could express this categorization,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developing written characters to express the language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CA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Almost 355 years ago to today, his language was published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CA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Though his proposals weren’t adopted, we can still learn much from his work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3637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begin with, the text is vast in scope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 Hegel, it begins with Being and Nothing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over 266 pages, it moves into more profane topics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0191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Wilkins categorize this vast amount of information?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brief, the system uses several tiers of categorization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the top are 40 genera, into which Wilkins classes all knowledge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listed at the right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begins with transcendentals down to specific accidents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genera are divided into differences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divided into species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Finally we reach radicals, which are the main units of communication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top of this, many words (especially radicals) also have paired terms, that Wilkins calls “affinities” and “oppositions”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Affinities are words highly related to the main entry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opposites may be subdivided into opposites of excess and those of defect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also provides a large number of synonyms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3246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Hopefully this example might help clarify things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Here, we can see a page from the genus “manners”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have difference #4, “Homiletical Virtues More Common,” listed up top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the opposition to this also appears, “</a:t>
            </a:r>
            <a:r>
              <a:rPr lang="en-US" sz="1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Unsociableness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Below this we can see 4 species, and these only have numbers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come the radicals, which appear in pairs: first the main entry, then its opposition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this page, there are no affinities; these appear in the same way as radicals, but they are not italicized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this page, below the radicals, we see double opposites, showing excesses and defects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page also shows rare cases of triple opposites, where there are four entries per radical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finally, the vast majority of words on this page are synonyms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6199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the end of the text, Wilkins provides a summary table, which gives a bit more intuitive view of how the categorization works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 appear as full or have columns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columns are divided into boxes of differences, noted by blackletter, with roman numerals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line in every difference box is a species, noted by Arabic numerals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each line splits into one or two radicals: the main entry on the left, and if there is an opposition or affinity, this appears on the right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you can see, not everything has an opposition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some differences have more radicals than others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55350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Borges, Jorge Luis. 2000. “John Wilkins' Analytical Language.” In </a:t>
            </a:r>
            <a:r>
              <a:rPr lang="en-AU" sz="1800" i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Non-Fictions</a:t>
            </a:r>
            <a:r>
              <a:rPr lang="en-AU" sz="1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by Jorge Luis Borges, translated by Eliot Weinberger, 229-232. New York: Penguin, p. 230.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Wilkins also created a language in which the letters and structure of each words expresses its position in the system, and hence its meaning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Borges famously described how this works: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if we go back one slide, in the far upper right, we can see the word for “Flame”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Though Borges is right, there are many more additional rules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Overall, I count up to 36 different possible forms for every word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this explains the many synonyms, which Wilkins says are meant to hint at other senses that a word can have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8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7131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Wilkins’ words can be expressed not only by Latin letters, but by characters</a:t>
            </a:r>
            <a:endParaRPr lang="en-C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character is a modification of one of the 40 genera characters</a:t>
            </a:r>
            <a:endParaRPr lang="en-C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Difference and radicals tiers are formed by modifying the left and right sides of the base character</a:t>
            </a:r>
            <a:endParaRPr lang="en-C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892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Here’s an example that illustrates the different ways of writing Wilkins’ words.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two versions of “Diffidence”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many lines here show how a Latinized word is created versus a character.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you can see, they are built in different orders.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Latinized words can be read left to right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the characters are not linear. They arguably are built out of morphemes, making them logographs, like Chinese characters, instead of segmented script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6830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Moving along, I will now talk about the digital version of the essay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text seemed to cry out for a way to automatically apply Wilkins’ rules to translate words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set about transforming the text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 basis, I used a complete scan of the text provided by the University of Michigan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this, I created a database of entries for each word, noting its position in the categorization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then coded in the rules to build Latinized forms of the word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finally I drew the components for the characters and coded how they would be strung together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11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4396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digitization also gives insights into the text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Such as data on all the various word types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And, in my coding in Wilkins’ rules, I have discovered incomplete ones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has also revealed errors in the published text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includes errors in some of Wilkins’ own examples of translations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there are many differences between the written text and the summary table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the point that I wonder if the table reflects an earlier version of the system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12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09001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 comparison of the published table and the digital version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Because the digital table is pulled from the text, we can use it to find errors in the published table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Here, we can see that “Epitome” is misfiled in the table as a main entry, when the text specifies it is an affinity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digital table also shows, in green, how many entries Wilkins cut from published table, these are shown in green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mostly plant, fish, and bird species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13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4885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 comparison of character formation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Sadly, this is the only full example of character formation in the full text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also find errors here: as you might be able to see, “</a:t>
            </a:r>
            <a:r>
              <a:rPr lang="en-US" sz="1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Baidho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is misprinted in the original: the first two thirds of the printed character are upside down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14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4848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reproduced by the BBC, https://www.bbc.co.uk/programmes/p003hycj 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conclude today, I’d like to address a few larger questions about Wilkins’ project 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 first question is: can we consider Wilkins a digital humanist?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First, he did use advanced technology: publication of the essay was only possible thanks to advances in printing technology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all the characters, the tables, and lines in the original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It’s written almost in a computerized fashion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Wilkins has regularized and quantified a set of data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he has developed a set of rules and axioms by which this data can be manipulated and expressed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essentially the development of an analogue code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16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2568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thank you all for your time, and here are some suggestions for further reading on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History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Politics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gender issues</a:t>
            </a:r>
            <a:endParaRPr lang="en-CA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FD4A6-C76C-496F-BFAD-A87BA6EEB15B}" type="slidenum">
              <a:rPr lang="en-CA" smtClean="0"/>
              <a:t>17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82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7102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512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49647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292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8393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618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122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1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061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922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8051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0652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9228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2608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31528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78711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215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954A9-1E56-463D-B618-769532E071B4}" type="datetimeFigureOut">
              <a:rPr lang="en-CA" smtClean="0"/>
              <a:t>2026-03-17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41AE6-DE09-4B48-8DE6-341E629575F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4099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881E0-6CEC-7612-2B17-177CD7988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890760" cy="2186704"/>
          </a:xfrm>
        </p:spPr>
        <p:txBody>
          <a:bodyPr>
            <a:noAutofit/>
          </a:bodyPr>
          <a:lstStyle/>
          <a:p>
            <a:r>
              <a:rPr lang="en-US" sz="4400" dirty="0"/>
              <a:t>John Wilkins Speaks: A Digitization of the </a:t>
            </a:r>
            <a:r>
              <a:rPr lang="en-US" sz="4400" i="1" dirty="0"/>
              <a:t>Essay Towards a Real Character, and a Philosophical Language</a:t>
            </a:r>
            <a:endParaRPr lang="en-CA" sz="44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6D8CA-6119-2417-CC0F-B265A0D62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084782"/>
            <a:ext cx="9448800" cy="685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Aidan Wakely-Mulroney</a:t>
            </a:r>
          </a:p>
          <a:p>
            <a:r>
              <a:rPr lang="en-US" dirty="0"/>
              <a:t>“On Digital Pasts and Digital Futures,” California State University Long Beach, April 2023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621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284FB1-E1F1-FC75-E6FE-1F0BBB06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0" y="764373"/>
            <a:ext cx="6832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Preparing the </a:t>
            </a:r>
            <a:r>
              <a:rPr lang="en-US" i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Essay</a:t>
            </a:r>
            <a:endParaRPr lang="en-US" kern="1200" cap="all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 descr="A picture containing text&#10;&#10;Description automatically generated">
            <a:extLst>
              <a:ext uri="{FF2B5EF4-FFF2-40B4-BE49-F238E27FC236}">
                <a16:creationId xmlns:a16="http://schemas.microsoft.com/office/drawing/2014/main" id="{7990F4F6-C08B-03EF-D516-0C7EC8878A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04763" y="914400"/>
            <a:ext cx="2896846" cy="530428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B9135F-5668-9FCC-3620-746013443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3599" y="2194560"/>
            <a:ext cx="7144027" cy="40241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John Wilkins (1614-72)</a:t>
            </a:r>
          </a:p>
          <a:p>
            <a:pPr lvl="1"/>
            <a:r>
              <a:rPr lang="en-US" dirty="0"/>
              <a:t>Dean of Ripon, later Bishop of Chester</a:t>
            </a:r>
          </a:p>
          <a:p>
            <a:pPr lvl="1"/>
            <a:r>
              <a:rPr lang="en-US" dirty="0"/>
              <a:t>Fellow of the Royal Society</a:t>
            </a:r>
          </a:p>
          <a:p>
            <a:r>
              <a:rPr lang="en-US" dirty="0"/>
              <a:t>Begins his ambitious project ca. 1662</a:t>
            </a:r>
          </a:p>
          <a:p>
            <a:pPr lvl="1"/>
            <a:r>
              <a:rPr lang="en-US" dirty="0"/>
              <a:t>Classification of all knowledge</a:t>
            </a:r>
          </a:p>
          <a:p>
            <a:pPr lvl="1"/>
            <a:r>
              <a:rPr lang="en-US" dirty="0"/>
              <a:t>Development of a new language</a:t>
            </a:r>
          </a:p>
          <a:p>
            <a:pPr lvl="1"/>
            <a:r>
              <a:rPr lang="en-US" dirty="0"/>
              <a:t>Development of new written characters</a:t>
            </a:r>
          </a:p>
          <a:p>
            <a:r>
              <a:rPr lang="en-US" dirty="0"/>
              <a:t>The </a:t>
            </a:r>
            <a:r>
              <a:rPr lang="en-US" i="1" dirty="0"/>
              <a:t>Essay</a:t>
            </a:r>
            <a:r>
              <a:rPr lang="en-US" dirty="0"/>
              <a:t> finally appears May 4, 1668</a:t>
            </a:r>
          </a:p>
          <a:p>
            <a:pPr lvl="1"/>
            <a:r>
              <a:rPr lang="en-US" dirty="0"/>
              <a:t>But his proposals are not adopted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4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D41DE-BCD3-36B7-0EC4-4A13DC20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Text Vast in Scope</a:t>
            </a:r>
            <a:endParaRPr lang="en-C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43EC78-D7AB-84B3-1E92-FF723F47F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9" y="1696122"/>
            <a:ext cx="5079991" cy="823912"/>
          </a:xfrm>
        </p:spPr>
        <p:txBody>
          <a:bodyPr/>
          <a:lstStyle/>
          <a:p>
            <a:r>
              <a:rPr lang="en-US" dirty="0"/>
              <a:t>From the transcendental…</a:t>
            </a:r>
            <a:endParaRPr lang="en-C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F5B5EF7-2665-2BB8-4238-EDEA52423D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492"/>
          <a:stretch/>
        </p:blipFill>
        <p:spPr>
          <a:xfrm>
            <a:off x="1032512" y="2520034"/>
            <a:ext cx="3989464" cy="4069496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0960A7-60A8-6D1D-4999-7EA165136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1696122"/>
            <a:ext cx="5105400" cy="823912"/>
          </a:xfrm>
        </p:spPr>
        <p:txBody>
          <a:bodyPr/>
          <a:lstStyle/>
          <a:p>
            <a:r>
              <a:rPr lang="en-US" dirty="0"/>
              <a:t>…to the profane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756FD4-7474-3874-BC2A-D4A7E7FE395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4"/>
          <a:srcRect t="26911"/>
          <a:stretch/>
        </p:blipFill>
        <p:spPr>
          <a:xfrm>
            <a:off x="6531851" y="2552931"/>
            <a:ext cx="4974349" cy="4055204"/>
          </a:xfrm>
        </p:spPr>
      </p:pic>
    </p:spTree>
    <p:extLst>
      <p:ext uri="{BB962C8B-B14F-4D97-AF65-F5344CB8AC3E}">
        <p14:creationId xmlns:p14="http://schemas.microsoft.com/office/powerpoint/2010/main" val="391635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14A8-8CB6-C98E-5070-F21F38F4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Wilkins’ Categorization Scheme</a:t>
            </a:r>
            <a:endParaRPr lang="en-C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9D8A9D9-5D24-1E3E-2797-1C99F1937F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40 Genera (shown at right)</a:t>
            </a:r>
          </a:p>
          <a:p>
            <a:pPr lvl="1"/>
            <a:r>
              <a:rPr lang="en-US" dirty="0"/>
              <a:t>The top level of organization</a:t>
            </a:r>
          </a:p>
          <a:p>
            <a:r>
              <a:rPr lang="en-US" dirty="0"/>
              <a:t>250 Differences</a:t>
            </a:r>
          </a:p>
          <a:p>
            <a:r>
              <a:rPr lang="en-US" dirty="0"/>
              <a:t>2,036 Species</a:t>
            </a:r>
          </a:p>
          <a:p>
            <a:r>
              <a:rPr lang="en-US" dirty="0"/>
              <a:t>3,823 Radicals</a:t>
            </a:r>
          </a:p>
          <a:p>
            <a:pPr lvl="1"/>
            <a:r>
              <a:rPr lang="en-US" dirty="0"/>
              <a:t>The basic unit of communication</a:t>
            </a:r>
          </a:p>
          <a:p>
            <a:pPr lvl="1"/>
            <a:r>
              <a:rPr lang="en-US" dirty="0"/>
              <a:t>This includes 1,865 “affinities” and “opposites” to other terms</a:t>
            </a:r>
          </a:p>
          <a:p>
            <a:r>
              <a:rPr lang="en-US" dirty="0"/>
              <a:t>+13,000 synonyms</a:t>
            </a:r>
          </a:p>
          <a:p>
            <a:r>
              <a:rPr lang="en-US" dirty="0"/>
              <a:t>266 pages of entries</a:t>
            </a:r>
          </a:p>
          <a:p>
            <a:pPr lvl="1"/>
            <a:endParaRPr lang="en-C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E589348-DEF2-1B63-EBD9-08268F22D9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27759"/>
            <a:ext cx="5334000" cy="2956645"/>
          </a:xfrm>
        </p:spPr>
      </p:pic>
    </p:spTree>
    <p:extLst>
      <p:ext uri="{BB962C8B-B14F-4D97-AF65-F5344CB8AC3E}">
        <p14:creationId xmlns:p14="http://schemas.microsoft.com/office/powerpoint/2010/main" val="55936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B866-BD87-12DE-07C0-B0D7DD0E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66" y="764373"/>
            <a:ext cx="6666187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of the Tiers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619A0-BDCD-7174-0370-B22A4B530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" y="2194560"/>
            <a:ext cx="6699758" cy="4024125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en-US" dirty="0"/>
              <a:t>Genus: “Manners”</a:t>
            </a:r>
          </a:p>
          <a:p>
            <a:r>
              <a:rPr lang="en-US" dirty="0"/>
              <a:t>Difference: #4, “Homiletical Vertues more Common”</a:t>
            </a:r>
          </a:p>
          <a:p>
            <a:pPr lvl="1"/>
            <a:r>
              <a:rPr lang="en-US" dirty="0"/>
              <a:t>And its opposition, “INSOCIABLENESS”</a:t>
            </a:r>
          </a:p>
          <a:p>
            <a:r>
              <a:rPr lang="en-US" dirty="0"/>
              <a:t>Species: 4 are shown here, only given numbers</a:t>
            </a:r>
          </a:p>
          <a:p>
            <a:r>
              <a:rPr lang="en-US" dirty="0"/>
              <a:t>Radical: 4 main entries are here, and three paired oppositions (noted in italics); no affinities on this page</a:t>
            </a:r>
          </a:p>
          <a:p>
            <a:pPr lvl="1"/>
            <a:r>
              <a:rPr lang="en-US" dirty="0"/>
              <a:t>In #1, “VERACITY” is a main radical and “LYING” is its opposite; in #2</a:t>
            </a:r>
          </a:p>
          <a:p>
            <a:r>
              <a:rPr lang="en-US" dirty="0"/>
              <a:t>Double Opposite: 6 here, in brackets beside radicals</a:t>
            </a:r>
          </a:p>
          <a:p>
            <a:pPr lvl="1"/>
            <a:r>
              <a:rPr lang="en-US" dirty="0"/>
              <a:t>#4 is a double opposite; #1-#3 are triple opposites</a:t>
            </a:r>
          </a:p>
          <a:p>
            <a:r>
              <a:rPr lang="en-US" dirty="0"/>
              <a:t>Synonyms: appear in italics after the main term</a:t>
            </a:r>
          </a:p>
          <a:p>
            <a:pPr lvl="1"/>
            <a:r>
              <a:rPr lang="en-US" dirty="0"/>
              <a:t>For the difference, radical, and double opposites</a:t>
            </a:r>
          </a:p>
          <a:p>
            <a:pPr lvl="1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C14B30-9FE4-EBF6-1F5C-84121F1170A2}"/>
              </a:ext>
            </a:extLst>
          </p:cNvPr>
          <p:cNvCxnSpPr>
            <a:cxnSpLocks/>
          </p:cNvCxnSpPr>
          <p:nvPr/>
        </p:nvCxnSpPr>
        <p:spPr>
          <a:xfrm>
            <a:off x="879515" y="2461665"/>
            <a:ext cx="959224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941C9F-1591-FB93-0D1D-6CCD5FFAB37E}"/>
              </a:ext>
            </a:extLst>
          </p:cNvPr>
          <p:cNvCxnSpPr>
            <a:cxnSpLocks/>
          </p:cNvCxnSpPr>
          <p:nvPr/>
        </p:nvCxnSpPr>
        <p:spPr>
          <a:xfrm>
            <a:off x="869576" y="2839774"/>
            <a:ext cx="1362636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5214C25-24F3-E4B9-16B6-BA4FC9D1C24E}"/>
              </a:ext>
            </a:extLst>
          </p:cNvPr>
          <p:cNvCxnSpPr>
            <a:cxnSpLocks/>
          </p:cNvCxnSpPr>
          <p:nvPr/>
        </p:nvCxnSpPr>
        <p:spPr>
          <a:xfrm>
            <a:off x="951615" y="3478694"/>
            <a:ext cx="974822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780C50-31CD-8B93-1E98-8E44A521582D}"/>
              </a:ext>
            </a:extLst>
          </p:cNvPr>
          <p:cNvCxnSpPr>
            <a:cxnSpLocks/>
          </p:cNvCxnSpPr>
          <p:nvPr/>
        </p:nvCxnSpPr>
        <p:spPr>
          <a:xfrm>
            <a:off x="929470" y="3796893"/>
            <a:ext cx="9748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A816CD2-8F1E-2F84-AF8D-8BE2D1721855}"/>
              </a:ext>
            </a:extLst>
          </p:cNvPr>
          <p:cNvCxnSpPr>
            <a:cxnSpLocks/>
          </p:cNvCxnSpPr>
          <p:nvPr/>
        </p:nvCxnSpPr>
        <p:spPr>
          <a:xfrm>
            <a:off x="879515" y="4897668"/>
            <a:ext cx="2094066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C6DF153-BE80-160D-6D82-72E164D9B3EF}"/>
              </a:ext>
            </a:extLst>
          </p:cNvPr>
          <p:cNvSpPr/>
          <p:nvPr/>
        </p:nvSpPr>
        <p:spPr>
          <a:xfrm>
            <a:off x="879515" y="5226892"/>
            <a:ext cx="1286884" cy="30415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7C7CB26-DE12-DD52-A0B9-95AB29B9E7F6}"/>
              </a:ext>
            </a:extLst>
          </p:cNvPr>
          <p:cNvCxnSpPr>
            <a:cxnSpLocks/>
          </p:cNvCxnSpPr>
          <p:nvPr/>
        </p:nvCxnSpPr>
        <p:spPr>
          <a:xfrm>
            <a:off x="2156460" y="3108216"/>
            <a:ext cx="1206727" cy="0"/>
          </a:xfrm>
          <a:prstGeom prst="line">
            <a:avLst/>
          </a:prstGeom>
          <a:ln w="28575">
            <a:solidFill>
              <a:srgbClr val="F000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50A3C03-38D2-1FC2-4EFE-BF8785C02A17}"/>
              </a:ext>
            </a:extLst>
          </p:cNvPr>
          <p:cNvSpPr/>
          <p:nvPr/>
        </p:nvSpPr>
        <p:spPr>
          <a:xfrm>
            <a:off x="7342093" y="1"/>
            <a:ext cx="4849907" cy="68764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88E4C9F-B159-6D95-C6B4-EDC9DC7879BE}"/>
              </a:ext>
            </a:extLst>
          </p:cNvPr>
          <p:cNvCxnSpPr>
            <a:cxnSpLocks/>
          </p:cNvCxnSpPr>
          <p:nvPr/>
        </p:nvCxnSpPr>
        <p:spPr>
          <a:xfrm flipV="1">
            <a:off x="969103" y="4029425"/>
            <a:ext cx="1187357" cy="1529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Content Placeholder 53">
            <a:extLst>
              <a:ext uri="{FF2B5EF4-FFF2-40B4-BE49-F238E27FC236}">
                <a16:creationId xmlns:a16="http://schemas.microsoft.com/office/drawing/2014/main" id="{63B8C3B8-01D3-BDBF-6AB4-1E3160BF6D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342093" y="0"/>
            <a:ext cx="4842863" cy="680885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C20513-A56F-47BD-D4DF-BFB04B575A81}"/>
              </a:ext>
            </a:extLst>
          </p:cNvPr>
          <p:cNvCxnSpPr>
            <a:cxnSpLocks/>
          </p:cNvCxnSpPr>
          <p:nvPr/>
        </p:nvCxnSpPr>
        <p:spPr>
          <a:xfrm>
            <a:off x="9603559" y="376519"/>
            <a:ext cx="848968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D42066-C2D5-5BA7-4A01-C9791FB14257}"/>
              </a:ext>
            </a:extLst>
          </p:cNvPr>
          <p:cNvCxnSpPr>
            <a:cxnSpLocks/>
          </p:cNvCxnSpPr>
          <p:nvPr/>
        </p:nvCxnSpPr>
        <p:spPr>
          <a:xfrm flipV="1">
            <a:off x="8430604" y="651530"/>
            <a:ext cx="2649773" cy="54282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E02EBDF-924B-EF10-C24A-51143D2E8027}"/>
              </a:ext>
            </a:extLst>
          </p:cNvPr>
          <p:cNvSpPr/>
          <p:nvPr/>
        </p:nvSpPr>
        <p:spPr>
          <a:xfrm>
            <a:off x="8461083" y="2280700"/>
            <a:ext cx="253195" cy="25319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431900-A1A0-178C-856F-D9E2F4C2EE8C}"/>
              </a:ext>
            </a:extLst>
          </p:cNvPr>
          <p:cNvCxnSpPr>
            <a:cxnSpLocks/>
          </p:cNvCxnSpPr>
          <p:nvPr/>
        </p:nvCxnSpPr>
        <p:spPr>
          <a:xfrm>
            <a:off x="8766380" y="2374265"/>
            <a:ext cx="8371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3BF818-FC44-8B1F-79D7-BC3171F09EEB}"/>
              </a:ext>
            </a:extLst>
          </p:cNvPr>
          <p:cNvCxnSpPr>
            <a:cxnSpLocks/>
          </p:cNvCxnSpPr>
          <p:nvPr/>
        </p:nvCxnSpPr>
        <p:spPr>
          <a:xfrm>
            <a:off x="8766380" y="2521284"/>
            <a:ext cx="43816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C31777D-A10D-22B1-10DE-5252FA295A16}"/>
              </a:ext>
            </a:extLst>
          </p:cNvPr>
          <p:cNvSpPr/>
          <p:nvPr/>
        </p:nvSpPr>
        <p:spPr>
          <a:xfrm>
            <a:off x="8364507" y="3325734"/>
            <a:ext cx="253195" cy="25319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D47A940-DFC6-BEA9-DF35-9BD19E19984F}"/>
              </a:ext>
            </a:extLst>
          </p:cNvPr>
          <p:cNvCxnSpPr>
            <a:cxnSpLocks/>
          </p:cNvCxnSpPr>
          <p:nvPr/>
        </p:nvCxnSpPr>
        <p:spPr>
          <a:xfrm>
            <a:off x="8738384" y="3434539"/>
            <a:ext cx="5961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424BE08-7999-9414-4363-49AC316EAC06}"/>
              </a:ext>
            </a:extLst>
          </p:cNvPr>
          <p:cNvCxnSpPr>
            <a:cxnSpLocks/>
          </p:cNvCxnSpPr>
          <p:nvPr/>
        </p:nvCxnSpPr>
        <p:spPr>
          <a:xfrm>
            <a:off x="8738384" y="3578929"/>
            <a:ext cx="51584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E1303265-3EDE-EB40-1CBC-F030E94E38FB}"/>
              </a:ext>
            </a:extLst>
          </p:cNvPr>
          <p:cNvSpPr/>
          <p:nvPr/>
        </p:nvSpPr>
        <p:spPr>
          <a:xfrm>
            <a:off x="8402607" y="4425723"/>
            <a:ext cx="253195" cy="25319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5B4CC32-CF9E-D924-520B-782C1B9B2D22}"/>
              </a:ext>
            </a:extLst>
          </p:cNvPr>
          <p:cNvCxnSpPr>
            <a:cxnSpLocks/>
          </p:cNvCxnSpPr>
          <p:nvPr/>
        </p:nvCxnSpPr>
        <p:spPr>
          <a:xfrm>
            <a:off x="8730351" y="4373011"/>
            <a:ext cx="108420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917EFCE-8857-A525-4411-816DA64A22E7}"/>
              </a:ext>
            </a:extLst>
          </p:cNvPr>
          <p:cNvCxnSpPr>
            <a:cxnSpLocks/>
          </p:cNvCxnSpPr>
          <p:nvPr/>
        </p:nvCxnSpPr>
        <p:spPr>
          <a:xfrm>
            <a:off x="8730351" y="4818707"/>
            <a:ext cx="604149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E5B52697-2835-BFCC-2695-D84AF7920B09}"/>
              </a:ext>
            </a:extLst>
          </p:cNvPr>
          <p:cNvSpPr/>
          <p:nvPr/>
        </p:nvSpPr>
        <p:spPr>
          <a:xfrm>
            <a:off x="8480287" y="6395289"/>
            <a:ext cx="253195" cy="253195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D99408A-5C77-5A68-6E4B-9BA5B1ED7643}"/>
              </a:ext>
            </a:extLst>
          </p:cNvPr>
          <p:cNvCxnSpPr>
            <a:cxnSpLocks/>
          </p:cNvCxnSpPr>
          <p:nvPr/>
        </p:nvCxnSpPr>
        <p:spPr>
          <a:xfrm>
            <a:off x="8816064" y="6488854"/>
            <a:ext cx="8371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E08B0D3-CCF6-E4BB-7052-EACEE1936787}"/>
              </a:ext>
            </a:extLst>
          </p:cNvPr>
          <p:cNvCxnSpPr>
            <a:cxnSpLocks/>
          </p:cNvCxnSpPr>
          <p:nvPr/>
        </p:nvCxnSpPr>
        <p:spPr>
          <a:xfrm>
            <a:off x="8766380" y="3754189"/>
            <a:ext cx="51584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7148F23-1A70-C2C9-C8B3-40FE0F1C4426}"/>
              </a:ext>
            </a:extLst>
          </p:cNvPr>
          <p:cNvCxnSpPr>
            <a:cxnSpLocks/>
          </p:cNvCxnSpPr>
          <p:nvPr/>
        </p:nvCxnSpPr>
        <p:spPr>
          <a:xfrm>
            <a:off x="8730351" y="4971107"/>
            <a:ext cx="604149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CF3206C-A664-3843-040D-839EF03EDB25}"/>
              </a:ext>
            </a:extLst>
          </p:cNvPr>
          <p:cNvCxnSpPr>
            <a:cxnSpLocks/>
          </p:cNvCxnSpPr>
          <p:nvPr/>
        </p:nvCxnSpPr>
        <p:spPr>
          <a:xfrm flipV="1">
            <a:off x="9763524" y="2502268"/>
            <a:ext cx="810829" cy="31627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B644879-F58A-6B1A-2343-E45322FA5717}"/>
              </a:ext>
            </a:extLst>
          </p:cNvPr>
          <p:cNvCxnSpPr>
            <a:cxnSpLocks/>
          </p:cNvCxnSpPr>
          <p:nvPr/>
        </p:nvCxnSpPr>
        <p:spPr>
          <a:xfrm>
            <a:off x="9814560" y="2990159"/>
            <a:ext cx="922020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381F7FA-8B01-264C-3A5D-2C9FECE813E1}"/>
              </a:ext>
            </a:extLst>
          </p:cNvPr>
          <p:cNvCxnSpPr>
            <a:cxnSpLocks/>
          </p:cNvCxnSpPr>
          <p:nvPr/>
        </p:nvCxnSpPr>
        <p:spPr>
          <a:xfrm flipV="1">
            <a:off x="9493523" y="3576002"/>
            <a:ext cx="959004" cy="15813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12B65D3-76D2-B147-745C-74ECF481228C}"/>
              </a:ext>
            </a:extLst>
          </p:cNvPr>
          <p:cNvCxnSpPr>
            <a:cxnSpLocks/>
          </p:cNvCxnSpPr>
          <p:nvPr/>
        </p:nvCxnSpPr>
        <p:spPr>
          <a:xfrm>
            <a:off x="9493523" y="3754189"/>
            <a:ext cx="694417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2595A4A-196B-D493-33FF-759A62166360}"/>
              </a:ext>
            </a:extLst>
          </p:cNvPr>
          <p:cNvCxnSpPr>
            <a:cxnSpLocks/>
          </p:cNvCxnSpPr>
          <p:nvPr/>
        </p:nvCxnSpPr>
        <p:spPr>
          <a:xfrm>
            <a:off x="9493523" y="4816236"/>
            <a:ext cx="694417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73560BC-D88E-1C3A-F4F9-37E1341353AD}"/>
              </a:ext>
            </a:extLst>
          </p:cNvPr>
          <p:cNvCxnSpPr>
            <a:cxnSpLocks/>
          </p:cNvCxnSpPr>
          <p:nvPr/>
        </p:nvCxnSpPr>
        <p:spPr>
          <a:xfrm>
            <a:off x="9493523" y="4971107"/>
            <a:ext cx="1166857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B0CF054-2B39-8D0E-F550-7FF735F936DE}"/>
              </a:ext>
            </a:extLst>
          </p:cNvPr>
          <p:cNvCxnSpPr>
            <a:cxnSpLocks/>
          </p:cNvCxnSpPr>
          <p:nvPr/>
        </p:nvCxnSpPr>
        <p:spPr>
          <a:xfrm>
            <a:off x="8910094" y="6648484"/>
            <a:ext cx="1445486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53D4351-2D45-279A-C166-A0E5DA478387}"/>
              </a:ext>
            </a:extLst>
          </p:cNvPr>
          <p:cNvCxnSpPr>
            <a:cxnSpLocks/>
          </p:cNvCxnSpPr>
          <p:nvPr/>
        </p:nvCxnSpPr>
        <p:spPr>
          <a:xfrm>
            <a:off x="8837205" y="6798436"/>
            <a:ext cx="1084035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84EA61E5-6DA5-2985-5E6D-6E6DCDA6AFAF}"/>
              </a:ext>
            </a:extLst>
          </p:cNvPr>
          <p:cNvSpPr/>
          <p:nvPr/>
        </p:nvSpPr>
        <p:spPr>
          <a:xfrm>
            <a:off x="11483340" y="1205265"/>
            <a:ext cx="701616" cy="23618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C56D9B4-37D2-4F68-595D-B4F44C7405D9}"/>
              </a:ext>
            </a:extLst>
          </p:cNvPr>
          <p:cNvCxnSpPr>
            <a:cxnSpLocks/>
          </p:cNvCxnSpPr>
          <p:nvPr/>
        </p:nvCxnSpPr>
        <p:spPr>
          <a:xfrm>
            <a:off x="10355580" y="1426210"/>
            <a:ext cx="1127760" cy="0"/>
          </a:xfrm>
          <a:prstGeom prst="line">
            <a:avLst/>
          </a:prstGeom>
          <a:ln w="28575">
            <a:solidFill>
              <a:srgbClr val="F000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B4178A47-F823-EBFD-6173-1FA5DE245073}"/>
              </a:ext>
            </a:extLst>
          </p:cNvPr>
          <p:cNvSpPr/>
          <p:nvPr/>
        </p:nvSpPr>
        <p:spPr>
          <a:xfrm>
            <a:off x="8837204" y="2549526"/>
            <a:ext cx="837179" cy="293976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728CE8F-11AD-0757-F4DC-59BF2445DBDF}"/>
              </a:ext>
            </a:extLst>
          </p:cNvPr>
          <p:cNvSpPr/>
          <p:nvPr/>
        </p:nvSpPr>
        <p:spPr>
          <a:xfrm>
            <a:off x="9239772" y="2399939"/>
            <a:ext cx="413471" cy="149578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0EAAEF9-BCF8-7A48-2DC5-9AC3200E9F1C}"/>
              </a:ext>
            </a:extLst>
          </p:cNvPr>
          <p:cNvSpPr/>
          <p:nvPr/>
        </p:nvSpPr>
        <p:spPr>
          <a:xfrm>
            <a:off x="10704649" y="2332507"/>
            <a:ext cx="1388291" cy="363817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F2C1DDB-562B-FE56-1C2D-9EF2867FA16D}"/>
              </a:ext>
            </a:extLst>
          </p:cNvPr>
          <p:cNvSpPr/>
          <p:nvPr/>
        </p:nvSpPr>
        <p:spPr>
          <a:xfrm>
            <a:off x="10815948" y="2766262"/>
            <a:ext cx="1388291" cy="223898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234F255-C39B-FA3A-4E00-1AC8F455536C}"/>
              </a:ext>
            </a:extLst>
          </p:cNvPr>
          <p:cNvSpPr/>
          <p:nvPr/>
        </p:nvSpPr>
        <p:spPr>
          <a:xfrm>
            <a:off x="9840731" y="2977907"/>
            <a:ext cx="1642609" cy="19227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AB98DBF-B7BD-91DF-0856-211E467BC940}"/>
              </a:ext>
            </a:extLst>
          </p:cNvPr>
          <p:cNvSpPr/>
          <p:nvPr/>
        </p:nvSpPr>
        <p:spPr>
          <a:xfrm>
            <a:off x="9862204" y="2504966"/>
            <a:ext cx="842445" cy="30995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E8A0DD3-9458-CD43-045A-8867CAA3A109}"/>
              </a:ext>
            </a:extLst>
          </p:cNvPr>
          <p:cNvSpPr/>
          <p:nvPr/>
        </p:nvSpPr>
        <p:spPr>
          <a:xfrm>
            <a:off x="9589281" y="2192686"/>
            <a:ext cx="413472" cy="19503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9DC7628-D623-64CA-2EA2-86112E27BE32}"/>
              </a:ext>
            </a:extLst>
          </p:cNvPr>
          <p:cNvSpPr/>
          <p:nvPr/>
        </p:nvSpPr>
        <p:spPr>
          <a:xfrm>
            <a:off x="9427657" y="3256002"/>
            <a:ext cx="959005" cy="20632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9E38DD5-199D-CCC3-1B6C-B7C61B3B98FB}"/>
              </a:ext>
            </a:extLst>
          </p:cNvPr>
          <p:cNvSpPr/>
          <p:nvPr/>
        </p:nvSpPr>
        <p:spPr>
          <a:xfrm>
            <a:off x="10521554" y="3414335"/>
            <a:ext cx="675063" cy="18245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160F90B-2D6E-8E55-74F6-3ECD415CA608}"/>
              </a:ext>
            </a:extLst>
          </p:cNvPr>
          <p:cNvSpPr/>
          <p:nvPr/>
        </p:nvSpPr>
        <p:spPr>
          <a:xfrm>
            <a:off x="10199884" y="3571736"/>
            <a:ext cx="1893056" cy="449399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9E5E3E7-5524-0D84-C6FE-19C91B9A9ECA}"/>
              </a:ext>
            </a:extLst>
          </p:cNvPr>
          <p:cNvSpPr/>
          <p:nvPr/>
        </p:nvSpPr>
        <p:spPr>
          <a:xfrm>
            <a:off x="9505999" y="3772826"/>
            <a:ext cx="693885" cy="274058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67E838A-9E27-929D-A594-28417E9CA124}"/>
              </a:ext>
            </a:extLst>
          </p:cNvPr>
          <p:cNvSpPr/>
          <p:nvPr/>
        </p:nvSpPr>
        <p:spPr>
          <a:xfrm>
            <a:off x="9883587" y="4177893"/>
            <a:ext cx="2209353" cy="449398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3382AC7-81F0-CAD8-E2BA-3FFEA21CB376}"/>
              </a:ext>
            </a:extLst>
          </p:cNvPr>
          <p:cNvSpPr/>
          <p:nvPr/>
        </p:nvSpPr>
        <p:spPr>
          <a:xfrm>
            <a:off x="8771866" y="4410425"/>
            <a:ext cx="1111721" cy="25319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A763E3B-2C25-3814-DCCA-C31C3BF69901}"/>
              </a:ext>
            </a:extLst>
          </p:cNvPr>
          <p:cNvSpPr/>
          <p:nvPr/>
        </p:nvSpPr>
        <p:spPr>
          <a:xfrm>
            <a:off x="10729407" y="4732129"/>
            <a:ext cx="1363533" cy="25319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CB1B7B8-C648-539D-DAEC-E4F11B4A01B3}"/>
              </a:ext>
            </a:extLst>
          </p:cNvPr>
          <p:cNvSpPr/>
          <p:nvPr/>
        </p:nvSpPr>
        <p:spPr>
          <a:xfrm>
            <a:off x="9505999" y="4991831"/>
            <a:ext cx="2586941" cy="699447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F1D9144-A299-29FC-634F-E9E6BEC333E9}"/>
              </a:ext>
            </a:extLst>
          </p:cNvPr>
          <p:cNvSpPr/>
          <p:nvPr/>
        </p:nvSpPr>
        <p:spPr>
          <a:xfrm>
            <a:off x="9505999" y="5691278"/>
            <a:ext cx="1015555" cy="21124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5E0A4B5-273F-8DE4-D21E-857D45936DE3}"/>
              </a:ext>
            </a:extLst>
          </p:cNvPr>
          <p:cNvSpPr/>
          <p:nvPr/>
        </p:nvSpPr>
        <p:spPr>
          <a:xfrm>
            <a:off x="9704895" y="6273905"/>
            <a:ext cx="1617529" cy="20757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7C5DC8A-8168-FA80-0EFE-965CE134CCE0}"/>
              </a:ext>
            </a:extLst>
          </p:cNvPr>
          <p:cNvSpPr/>
          <p:nvPr/>
        </p:nvSpPr>
        <p:spPr>
          <a:xfrm>
            <a:off x="10423929" y="6488854"/>
            <a:ext cx="898495" cy="15631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09023BE-6B09-9250-E32C-BF8A90F4C5DA}"/>
              </a:ext>
            </a:extLst>
          </p:cNvPr>
          <p:cNvSpPr/>
          <p:nvPr/>
        </p:nvSpPr>
        <p:spPr>
          <a:xfrm>
            <a:off x="10020965" y="6628745"/>
            <a:ext cx="2071975" cy="20757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842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5045-C857-0CE1-65C0-AE42AD6A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dirty="0"/>
              <a:t>(Part of) The Summary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3362-1592-D2CA-C1D5-4204F8BA5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364573"/>
            <a:ext cx="3977639" cy="3854112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2000" dirty="0"/>
              <a:t>Chapter: not indicated</a:t>
            </a:r>
          </a:p>
          <a:p>
            <a:r>
              <a:rPr lang="en-US" sz="2000" dirty="0"/>
              <a:t>Genus: column or half column</a:t>
            </a:r>
          </a:p>
          <a:p>
            <a:r>
              <a:rPr lang="en-US" sz="2000" dirty="0"/>
              <a:t>Difference: blackletter, with Roman numerals at left</a:t>
            </a:r>
          </a:p>
          <a:p>
            <a:r>
              <a:rPr lang="en-US" sz="2000" dirty="0"/>
              <a:t>Species: Arabic numerals</a:t>
            </a:r>
          </a:p>
          <a:p>
            <a:r>
              <a:rPr lang="en-US" sz="2000" dirty="0"/>
              <a:t>Radicals: words in regular type</a:t>
            </a:r>
          </a:p>
          <a:p>
            <a:pPr lvl="1"/>
            <a:r>
              <a:rPr lang="en-US" sz="1800" dirty="0"/>
              <a:t>Affinities: appear on right side</a:t>
            </a:r>
          </a:p>
          <a:p>
            <a:pPr lvl="1"/>
            <a:r>
              <a:rPr lang="en-US" sz="1800" dirty="0"/>
              <a:t>Opposites: appear on right side, in italics; double opps. are separated by commas</a:t>
            </a:r>
          </a:p>
          <a:p>
            <a:r>
              <a:rPr lang="en-US" sz="2000" dirty="0"/>
              <a:t>Synonyms: don’t appear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45D571-D0B6-2C60-222B-FC1D938452AD}"/>
              </a:ext>
            </a:extLst>
          </p:cNvPr>
          <p:cNvSpPr/>
          <p:nvPr/>
        </p:nvSpPr>
        <p:spPr>
          <a:xfrm>
            <a:off x="11708296" y="-1"/>
            <a:ext cx="483704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22789B-3889-01C3-FE01-7B2D88A48B1D}"/>
              </a:ext>
            </a:extLst>
          </p:cNvPr>
          <p:cNvCxnSpPr>
            <a:cxnSpLocks/>
          </p:cNvCxnSpPr>
          <p:nvPr/>
        </p:nvCxnSpPr>
        <p:spPr>
          <a:xfrm>
            <a:off x="949089" y="3113092"/>
            <a:ext cx="959224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342E0D-49AF-0045-4813-89FD7BED4A78}"/>
              </a:ext>
            </a:extLst>
          </p:cNvPr>
          <p:cNvCxnSpPr>
            <a:cxnSpLocks/>
          </p:cNvCxnSpPr>
          <p:nvPr/>
        </p:nvCxnSpPr>
        <p:spPr>
          <a:xfrm>
            <a:off x="949089" y="3429000"/>
            <a:ext cx="1362636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A79985-65A3-7427-B05D-AB9B3D30C607}"/>
              </a:ext>
            </a:extLst>
          </p:cNvPr>
          <p:cNvCxnSpPr>
            <a:cxnSpLocks/>
          </p:cNvCxnSpPr>
          <p:nvPr/>
        </p:nvCxnSpPr>
        <p:spPr>
          <a:xfrm>
            <a:off x="1033670" y="4100304"/>
            <a:ext cx="890241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D4C809B-149F-2B0C-A5E0-2ECBD329467B}"/>
              </a:ext>
            </a:extLst>
          </p:cNvPr>
          <p:cNvCxnSpPr>
            <a:cxnSpLocks/>
          </p:cNvCxnSpPr>
          <p:nvPr/>
        </p:nvCxnSpPr>
        <p:spPr>
          <a:xfrm>
            <a:off x="1006725" y="4480542"/>
            <a:ext cx="9748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50D30A4-8211-4022-0C6D-E7C164B27E5A}"/>
              </a:ext>
            </a:extLst>
          </p:cNvPr>
          <p:cNvCxnSpPr>
            <a:cxnSpLocks/>
          </p:cNvCxnSpPr>
          <p:nvPr/>
        </p:nvCxnSpPr>
        <p:spPr>
          <a:xfrm flipV="1">
            <a:off x="1478790" y="4771608"/>
            <a:ext cx="832935" cy="14437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69A32EBA-C51F-45DD-F0D0-2BB79064304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1373" y="-3"/>
            <a:ext cx="7072404" cy="68580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D5F222-6081-D0BD-FBA2-5F3A5F7FC3F8}"/>
              </a:ext>
            </a:extLst>
          </p:cNvPr>
          <p:cNvCxnSpPr>
            <a:cxnSpLocks/>
          </p:cNvCxnSpPr>
          <p:nvPr/>
        </p:nvCxnSpPr>
        <p:spPr>
          <a:xfrm>
            <a:off x="7975175" y="221782"/>
            <a:ext cx="79026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57C456-30EB-FABD-F2F3-7B6A90541A87}"/>
              </a:ext>
            </a:extLst>
          </p:cNvPr>
          <p:cNvCxnSpPr>
            <a:cxnSpLocks/>
          </p:cNvCxnSpPr>
          <p:nvPr/>
        </p:nvCxnSpPr>
        <p:spPr>
          <a:xfrm>
            <a:off x="7976053" y="363689"/>
            <a:ext cx="531842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4E0206-6ED2-769B-800B-DB1FECAEA8B4}"/>
              </a:ext>
            </a:extLst>
          </p:cNvPr>
          <p:cNvCxnSpPr>
            <a:cxnSpLocks/>
          </p:cNvCxnSpPr>
          <p:nvPr/>
        </p:nvCxnSpPr>
        <p:spPr>
          <a:xfrm>
            <a:off x="9480175" y="840345"/>
            <a:ext cx="79026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EE0F1C-F4E4-A41F-D88B-96E2CB826EFD}"/>
              </a:ext>
            </a:extLst>
          </p:cNvPr>
          <p:cNvCxnSpPr>
            <a:cxnSpLocks/>
          </p:cNvCxnSpPr>
          <p:nvPr/>
        </p:nvCxnSpPr>
        <p:spPr>
          <a:xfrm>
            <a:off x="9354280" y="219637"/>
            <a:ext cx="38606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AD3F89-F6E5-4372-3868-CC8B3277BE03}"/>
              </a:ext>
            </a:extLst>
          </p:cNvPr>
          <p:cNvCxnSpPr>
            <a:cxnSpLocks/>
          </p:cNvCxnSpPr>
          <p:nvPr/>
        </p:nvCxnSpPr>
        <p:spPr>
          <a:xfrm>
            <a:off x="9884368" y="196252"/>
            <a:ext cx="386067" cy="0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87D4F1-AEF6-5E9C-6787-7D17C8AA7631}"/>
              </a:ext>
            </a:extLst>
          </p:cNvPr>
          <p:cNvCxnSpPr>
            <a:cxnSpLocks/>
          </p:cNvCxnSpPr>
          <p:nvPr/>
        </p:nvCxnSpPr>
        <p:spPr>
          <a:xfrm>
            <a:off x="8765435" y="219637"/>
            <a:ext cx="386067" cy="0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1E1F02-912C-678F-3606-9805FE65485E}"/>
              </a:ext>
            </a:extLst>
          </p:cNvPr>
          <p:cNvCxnSpPr>
            <a:cxnSpLocks/>
          </p:cNvCxnSpPr>
          <p:nvPr/>
        </p:nvCxnSpPr>
        <p:spPr>
          <a:xfrm>
            <a:off x="7976053" y="1441451"/>
            <a:ext cx="322016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06D1BF-AA86-8724-786A-3249BE9F3E03}"/>
              </a:ext>
            </a:extLst>
          </p:cNvPr>
          <p:cNvCxnSpPr>
            <a:cxnSpLocks/>
          </p:cNvCxnSpPr>
          <p:nvPr/>
        </p:nvCxnSpPr>
        <p:spPr>
          <a:xfrm>
            <a:off x="7976053" y="2519213"/>
            <a:ext cx="1115766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5EA14F-5D4E-2B26-6B4C-BD156442DF52}"/>
              </a:ext>
            </a:extLst>
          </p:cNvPr>
          <p:cNvCxnSpPr>
            <a:cxnSpLocks/>
          </p:cNvCxnSpPr>
          <p:nvPr/>
        </p:nvCxnSpPr>
        <p:spPr>
          <a:xfrm>
            <a:off x="8016687" y="3596975"/>
            <a:ext cx="941782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DC2DBC-B2AE-EA3A-158A-2A5F593513E7}"/>
              </a:ext>
            </a:extLst>
          </p:cNvPr>
          <p:cNvCxnSpPr>
            <a:cxnSpLocks/>
          </p:cNvCxnSpPr>
          <p:nvPr/>
        </p:nvCxnSpPr>
        <p:spPr>
          <a:xfrm>
            <a:off x="8604427" y="1441451"/>
            <a:ext cx="430242" cy="0"/>
          </a:xfrm>
          <a:prstGeom prst="line">
            <a:avLst/>
          </a:prstGeom>
          <a:ln w="28575">
            <a:solidFill>
              <a:srgbClr val="F000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03C536A-7723-B83E-927A-413A57027A3D}"/>
              </a:ext>
            </a:extLst>
          </p:cNvPr>
          <p:cNvCxnSpPr>
            <a:cxnSpLocks/>
          </p:cNvCxnSpPr>
          <p:nvPr/>
        </p:nvCxnSpPr>
        <p:spPr>
          <a:xfrm>
            <a:off x="8016687" y="4708225"/>
            <a:ext cx="395682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3ED682-A43E-502B-E1E5-AD7974B0B4E2}"/>
              </a:ext>
            </a:extLst>
          </p:cNvPr>
          <p:cNvCxnSpPr>
            <a:cxnSpLocks/>
          </p:cNvCxnSpPr>
          <p:nvPr/>
        </p:nvCxnSpPr>
        <p:spPr>
          <a:xfrm>
            <a:off x="8016687" y="5813125"/>
            <a:ext cx="748748" cy="0"/>
          </a:xfrm>
          <a:prstGeom prst="line">
            <a:avLst/>
          </a:prstGeom>
          <a:ln w="28575">
            <a:solidFill>
              <a:srgbClr val="F00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9A529E5-0A91-EAD9-6BD5-0DCDDBF24732}"/>
              </a:ext>
            </a:extLst>
          </p:cNvPr>
          <p:cNvCxnSpPr>
            <a:cxnSpLocks/>
          </p:cNvCxnSpPr>
          <p:nvPr/>
        </p:nvCxnSpPr>
        <p:spPr>
          <a:xfrm>
            <a:off x="9243598" y="970832"/>
            <a:ext cx="0" cy="64365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C1EE0F6-B1CA-9524-5110-B5BA10103D18}"/>
              </a:ext>
            </a:extLst>
          </p:cNvPr>
          <p:cNvCxnSpPr>
            <a:cxnSpLocks/>
          </p:cNvCxnSpPr>
          <p:nvPr/>
        </p:nvCxnSpPr>
        <p:spPr>
          <a:xfrm>
            <a:off x="9243598" y="1979614"/>
            <a:ext cx="0" cy="835024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47D4F32-BC1E-2010-2EB5-B7B9FB93C6EA}"/>
              </a:ext>
            </a:extLst>
          </p:cNvPr>
          <p:cNvCxnSpPr>
            <a:cxnSpLocks/>
          </p:cNvCxnSpPr>
          <p:nvPr/>
        </p:nvCxnSpPr>
        <p:spPr>
          <a:xfrm>
            <a:off x="9243598" y="2973390"/>
            <a:ext cx="0" cy="746123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E87A1F-0FB4-A2E7-7DE9-5B7AD756ABEA}"/>
              </a:ext>
            </a:extLst>
          </p:cNvPr>
          <p:cNvCxnSpPr>
            <a:cxnSpLocks/>
          </p:cNvCxnSpPr>
          <p:nvPr/>
        </p:nvCxnSpPr>
        <p:spPr>
          <a:xfrm>
            <a:off x="9253124" y="3948739"/>
            <a:ext cx="0" cy="75948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72DD3E6-2125-8DE7-97F0-E2BE8D6F7991}"/>
              </a:ext>
            </a:extLst>
          </p:cNvPr>
          <p:cNvCxnSpPr>
            <a:cxnSpLocks/>
          </p:cNvCxnSpPr>
          <p:nvPr/>
        </p:nvCxnSpPr>
        <p:spPr>
          <a:xfrm>
            <a:off x="9253124" y="4946665"/>
            <a:ext cx="0" cy="520685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0EAD0D4-27E3-E3BC-A149-423DE47EFB2D}"/>
              </a:ext>
            </a:extLst>
          </p:cNvPr>
          <p:cNvCxnSpPr>
            <a:cxnSpLocks/>
          </p:cNvCxnSpPr>
          <p:nvPr/>
        </p:nvCxnSpPr>
        <p:spPr>
          <a:xfrm>
            <a:off x="9266997" y="5948363"/>
            <a:ext cx="0" cy="74094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20A8FA-4FA1-B590-C5A0-7A75CF600595}"/>
              </a:ext>
            </a:extLst>
          </p:cNvPr>
          <p:cNvCxnSpPr>
            <a:cxnSpLocks/>
          </p:cNvCxnSpPr>
          <p:nvPr/>
        </p:nvCxnSpPr>
        <p:spPr>
          <a:xfrm>
            <a:off x="5122073" y="306534"/>
            <a:ext cx="107394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F0B7047-B562-1E8E-032F-14A9550C0714}"/>
              </a:ext>
            </a:extLst>
          </p:cNvPr>
          <p:cNvCxnSpPr>
            <a:cxnSpLocks/>
          </p:cNvCxnSpPr>
          <p:nvPr/>
        </p:nvCxnSpPr>
        <p:spPr>
          <a:xfrm>
            <a:off x="6474209" y="272786"/>
            <a:ext cx="125056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BA9C660-924F-9BDC-5DD1-D130C2173BA7}"/>
              </a:ext>
            </a:extLst>
          </p:cNvPr>
          <p:cNvCxnSpPr>
            <a:cxnSpLocks/>
          </p:cNvCxnSpPr>
          <p:nvPr/>
        </p:nvCxnSpPr>
        <p:spPr>
          <a:xfrm>
            <a:off x="10763980" y="182099"/>
            <a:ext cx="58029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C4C2931-3636-2295-E22B-3F1C3179D160}"/>
              </a:ext>
            </a:extLst>
          </p:cNvPr>
          <p:cNvCxnSpPr>
            <a:cxnSpLocks/>
          </p:cNvCxnSpPr>
          <p:nvPr/>
        </p:nvCxnSpPr>
        <p:spPr>
          <a:xfrm>
            <a:off x="11436943" y="182099"/>
            <a:ext cx="647212" cy="14153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4FCE9A8-CA6B-31F7-8149-A13737190BF1}"/>
              </a:ext>
            </a:extLst>
          </p:cNvPr>
          <p:cNvCxnSpPr>
            <a:cxnSpLocks/>
          </p:cNvCxnSpPr>
          <p:nvPr/>
        </p:nvCxnSpPr>
        <p:spPr>
          <a:xfrm>
            <a:off x="10703602" y="3589898"/>
            <a:ext cx="58029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02BD9CB-D10B-5754-F9F9-AAA0DB2D0785}"/>
              </a:ext>
            </a:extLst>
          </p:cNvPr>
          <p:cNvCxnSpPr>
            <a:cxnSpLocks/>
          </p:cNvCxnSpPr>
          <p:nvPr/>
        </p:nvCxnSpPr>
        <p:spPr>
          <a:xfrm>
            <a:off x="11376565" y="3589898"/>
            <a:ext cx="647212" cy="14153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AEA0755-F14E-0100-49FA-19ABBFC412C0}"/>
              </a:ext>
            </a:extLst>
          </p:cNvPr>
          <p:cNvCxnSpPr>
            <a:cxnSpLocks/>
          </p:cNvCxnSpPr>
          <p:nvPr/>
        </p:nvCxnSpPr>
        <p:spPr>
          <a:xfrm>
            <a:off x="1478790" y="5077110"/>
            <a:ext cx="988185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AA380D3-C773-959D-21E8-0315781A645D}"/>
              </a:ext>
            </a:extLst>
          </p:cNvPr>
          <p:cNvCxnSpPr>
            <a:cxnSpLocks/>
          </p:cNvCxnSpPr>
          <p:nvPr/>
        </p:nvCxnSpPr>
        <p:spPr>
          <a:xfrm>
            <a:off x="7814848" y="363689"/>
            <a:ext cx="0" cy="941237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AD8DA3A-400F-4B93-4CAC-3814F8665028}"/>
              </a:ext>
            </a:extLst>
          </p:cNvPr>
          <p:cNvCxnSpPr>
            <a:cxnSpLocks/>
          </p:cNvCxnSpPr>
          <p:nvPr/>
        </p:nvCxnSpPr>
        <p:spPr>
          <a:xfrm>
            <a:off x="7833898" y="1441451"/>
            <a:ext cx="0" cy="941237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86C5B31-7A13-3935-AE2D-568ED2F1549D}"/>
              </a:ext>
            </a:extLst>
          </p:cNvPr>
          <p:cNvCxnSpPr>
            <a:cxnSpLocks/>
          </p:cNvCxnSpPr>
          <p:nvPr/>
        </p:nvCxnSpPr>
        <p:spPr>
          <a:xfrm>
            <a:off x="7843423" y="2535243"/>
            <a:ext cx="0" cy="941237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DAD0049-2C52-EA6D-EAFA-CDFFB1C2D7CE}"/>
              </a:ext>
            </a:extLst>
          </p:cNvPr>
          <p:cNvCxnSpPr>
            <a:cxnSpLocks/>
          </p:cNvCxnSpPr>
          <p:nvPr/>
        </p:nvCxnSpPr>
        <p:spPr>
          <a:xfrm>
            <a:off x="7852948" y="3629035"/>
            <a:ext cx="0" cy="941237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7842B1E-758E-A2A3-806F-18976DEEE78E}"/>
              </a:ext>
            </a:extLst>
          </p:cNvPr>
          <p:cNvCxnSpPr>
            <a:cxnSpLocks/>
          </p:cNvCxnSpPr>
          <p:nvPr/>
        </p:nvCxnSpPr>
        <p:spPr>
          <a:xfrm>
            <a:off x="7852948" y="4722827"/>
            <a:ext cx="0" cy="941237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25D830E-0AE4-9911-6D07-1C91A829CFCF}"/>
              </a:ext>
            </a:extLst>
          </p:cNvPr>
          <p:cNvCxnSpPr>
            <a:cxnSpLocks/>
          </p:cNvCxnSpPr>
          <p:nvPr/>
        </p:nvCxnSpPr>
        <p:spPr>
          <a:xfrm>
            <a:off x="7852948" y="5842019"/>
            <a:ext cx="0" cy="941237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BF5E612A-60C3-A79E-CD83-C19997053593}"/>
              </a:ext>
            </a:extLst>
          </p:cNvPr>
          <p:cNvSpPr/>
          <p:nvPr/>
        </p:nvSpPr>
        <p:spPr>
          <a:xfrm>
            <a:off x="7947622" y="1502572"/>
            <a:ext cx="543081" cy="9072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C1E4D84-6EE0-F2E6-93EC-16A36E852802}"/>
              </a:ext>
            </a:extLst>
          </p:cNvPr>
          <p:cNvSpPr/>
          <p:nvPr/>
        </p:nvSpPr>
        <p:spPr>
          <a:xfrm>
            <a:off x="10701072" y="306534"/>
            <a:ext cx="363616" cy="16128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1833524-BA39-88C1-119F-9306F59DCF0F}"/>
              </a:ext>
            </a:extLst>
          </p:cNvPr>
          <p:cNvSpPr/>
          <p:nvPr/>
        </p:nvSpPr>
        <p:spPr>
          <a:xfrm>
            <a:off x="8539993" y="1502572"/>
            <a:ext cx="629461" cy="90724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D3E2852-B8DB-DFA8-FCAD-8125A5BAA119}"/>
              </a:ext>
            </a:extLst>
          </p:cNvPr>
          <p:cNvSpPr/>
          <p:nvPr/>
        </p:nvSpPr>
        <p:spPr>
          <a:xfrm>
            <a:off x="5102706" y="1502572"/>
            <a:ext cx="543081" cy="5992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DB93975-4A21-4FF2-00B6-62484E5CD69B}"/>
              </a:ext>
            </a:extLst>
          </p:cNvPr>
          <p:cNvSpPr/>
          <p:nvPr/>
        </p:nvSpPr>
        <p:spPr>
          <a:xfrm>
            <a:off x="5695077" y="1503364"/>
            <a:ext cx="629461" cy="59848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B6F91A1-27E4-FEE8-2946-45A0A727B346}"/>
              </a:ext>
            </a:extLst>
          </p:cNvPr>
          <p:cNvCxnSpPr>
            <a:cxnSpLocks/>
          </p:cNvCxnSpPr>
          <p:nvPr/>
        </p:nvCxnSpPr>
        <p:spPr>
          <a:xfrm>
            <a:off x="2941983" y="5320496"/>
            <a:ext cx="1323685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127F1A71-69F7-DB68-C52D-B1306B4E9BDA}"/>
              </a:ext>
            </a:extLst>
          </p:cNvPr>
          <p:cNvSpPr/>
          <p:nvPr/>
        </p:nvSpPr>
        <p:spPr>
          <a:xfrm>
            <a:off x="5740735" y="421482"/>
            <a:ext cx="629461" cy="941237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0784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EC4F2-840C-DDC5-4E90-4A80CE7B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Language: Latinized Form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81CB66-7D5F-A893-5D93-59F5CD0C7D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Borges’ summary is correct, for basic word types</a:t>
            </a:r>
          </a:p>
          <a:p>
            <a:pPr lvl="1"/>
            <a:r>
              <a:rPr lang="en-US" dirty="0"/>
              <a:t>And each letter has a specific sound</a:t>
            </a:r>
          </a:p>
          <a:p>
            <a:r>
              <a:rPr lang="en-US" dirty="0"/>
              <a:t>Further rules (extra letters and vowels) apply for</a:t>
            </a:r>
          </a:p>
          <a:p>
            <a:pPr lvl="1"/>
            <a:r>
              <a:rPr lang="en-US" dirty="0"/>
              <a:t>Opposition/Affinity</a:t>
            </a:r>
          </a:p>
          <a:p>
            <a:pPr lvl="1"/>
            <a:r>
              <a:rPr lang="en-US" dirty="0"/>
              <a:t>Substantive/Adjective/Adverb</a:t>
            </a:r>
          </a:p>
          <a:p>
            <a:pPr lvl="1"/>
            <a:r>
              <a:rPr lang="en-US" dirty="0"/>
              <a:t>Neutral/Active/Passive</a:t>
            </a:r>
          </a:p>
          <a:p>
            <a:pPr lvl="1"/>
            <a:r>
              <a:rPr lang="en-US" dirty="0"/>
              <a:t>Abstract/Concrete</a:t>
            </a:r>
          </a:p>
          <a:p>
            <a:pPr lvl="1"/>
            <a:r>
              <a:rPr lang="en-US" dirty="0"/>
              <a:t>Singular/Plural</a:t>
            </a:r>
          </a:p>
          <a:p>
            <a:pPr lvl="1"/>
            <a:r>
              <a:rPr lang="en-US" dirty="0"/>
              <a:t>Can differ for genus vs. radical</a:t>
            </a:r>
          </a:p>
          <a:p>
            <a:r>
              <a:rPr lang="en-US" dirty="0"/>
              <a:t>Total of 36 different forms</a:t>
            </a:r>
          </a:p>
          <a:p>
            <a:pPr lvl="1"/>
            <a:r>
              <a:rPr lang="en-US" dirty="0"/>
              <a:t>The synonyms hint towards these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872EA-AD52-077B-EA8E-08CF38B70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1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Borges on Wilkins:</a:t>
            </a:r>
          </a:p>
          <a:p>
            <a:pPr marL="0" indent="0" algn="ctr">
              <a:buNone/>
            </a:pPr>
            <a:r>
              <a:rPr lang="en-US" sz="2400" i="1" dirty="0"/>
              <a:t>To each class [i.e., genus] he assigned a monosyllable of two letters; to each difference, a consonant; to each species, a vowel. </a:t>
            </a:r>
          </a:p>
          <a:p>
            <a:pPr marL="0" indent="0" algn="ctr">
              <a:buNone/>
            </a:pPr>
            <a:r>
              <a:rPr lang="en-US" sz="2400" i="1" dirty="0"/>
              <a:t>For example: </a:t>
            </a:r>
            <a:r>
              <a:rPr lang="en-US" sz="2400" b="1" dirty="0"/>
              <a:t>de</a:t>
            </a:r>
            <a:r>
              <a:rPr lang="en-US" sz="2400" i="1" dirty="0"/>
              <a:t>, means element; </a:t>
            </a:r>
            <a:r>
              <a:rPr lang="en-US" sz="2400" b="1" dirty="0"/>
              <a:t>deb</a:t>
            </a:r>
            <a:r>
              <a:rPr lang="en-US" sz="2400" i="1" dirty="0"/>
              <a:t>, the first of the elements, fire; </a:t>
            </a:r>
            <a:r>
              <a:rPr lang="en-US" sz="2400" b="1" dirty="0"/>
              <a:t>deba</a:t>
            </a:r>
            <a:r>
              <a:rPr lang="en-US" sz="2400" i="1" dirty="0"/>
              <a:t>, a portion of the element of fire, a flame.</a:t>
            </a:r>
            <a:endParaRPr lang="en-CA" sz="2400" dirty="0"/>
          </a:p>
          <a:p>
            <a:pPr algn="ctr"/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40749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61FE-BF7A-968F-DD1F-5203B8CC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Characters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BF5CF9-F96A-3634-13EE-412A240A67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dirty="0"/>
              <a:t>Each of the 40 genera has its own unique character (upper box)</a:t>
            </a:r>
          </a:p>
          <a:p>
            <a:pPr lvl="1"/>
            <a:r>
              <a:rPr lang="en-CA" dirty="0"/>
              <a:t>Differences and radicals are formed by modifying the left and right ends (lower box)</a:t>
            </a:r>
          </a:p>
          <a:p>
            <a:pPr lvl="1"/>
            <a:r>
              <a:rPr lang="en-CA" dirty="0"/>
              <a:t>Opposition, abstraction, passive, etc. are formed by adding hooks and circles to the ends</a:t>
            </a:r>
          </a:p>
        </p:txBody>
      </p:sp>
      <p:pic>
        <p:nvPicPr>
          <p:cNvPr id="6" name="Content Placeholder 5" descr="A close-up of a document&#10;&#10;Description automatically generated with low confidence">
            <a:extLst>
              <a:ext uri="{FF2B5EF4-FFF2-40B4-BE49-F238E27FC236}">
                <a16:creationId xmlns:a16="http://schemas.microsoft.com/office/drawing/2014/main" id="{8037D5D8-A338-4088-1C1D-24B2998B83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200" y="2273443"/>
            <a:ext cx="5943600" cy="32147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CC74EB8F-CE6A-896A-AC3E-4E8C1FD6AA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200" y="5664950"/>
            <a:ext cx="5943600" cy="6680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8060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5733-686D-6B54-7769-13635E49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Latin Script vs. Characters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0272D-C0DD-36B4-4521-B089CA05D2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Characters are constructed in a different order than the Latin form</a:t>
            </a:r>
          </a:p>
          <a:p>
            <a:pPr lvl="1"/>
            <a:r>
              <a:rPr lang="en-US" dirty="0"/>
              <a:t>The Latinized words are read linearly (segmented script, like English or Arabic)</a:t>
            </a:r>
          </a:p>
          <a:p>
            <a:pPr lvl="1"/>
            <a:r>
              <a:rPr lang="en-US" dirty="0"/>
              <a:t>Characters are composed of non-sequential morphemes (logographs, like Chinese characters)</a:t>
            </a:r>
          </a:p>
          <a:p>
            <a:r>
              <a:rPr lang="en-US" dirty="0"/>
              <a:t>At left, the abstract, passive, adjective form of “Diffidence”</a:t>
            </a:r>
          </a:p>
          <a:p>
            <a:endParaRPr lang="en-US" dirty="0"/>
          </a:p>
          <a:p>
            <a:pPr lvl="1"/>
            <a:endParaRPr lang="en-CA" dirty="0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8B07963D-F3F5-E6B5-F963-79685C64F2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0" y="2873835"/>
            <a:ext cx="5334000" cy="2664492"/>
          </a:xfrm>
        </p:spPr>
      </p:pic>
    </p:spTree>
    <p:extLst>
      <p:ext uri="{BB962C8B-B14F-4D97-AF65-F5344CB8AC3E}">
        <p14:creationId xmlns:p14="http://schemas.microsoft.com/office/powerpoint/2010/main" val="138792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C3C1-7DE1-D354-C0A1-5793F573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Digitization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0610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870C4C-9464-C747-033E-99A6ED6E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0EEEE2-9DBC-8FE0-53EA-3D2C1E28F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Goal: a digital version that…</a:t>
            </a:r>
          </a:p>
          <a:p>
            <a:pPr lvl="1"/>
            <a:r>
              <a:rPr lang="en-CA" dirty="0"/>
              <a:t>Generates Latinized and character forms for every word</a:t>
            </a:r>
          </a:p>
          <a:p>
            <a:pPr lvl="1"/>
            <a:r>
              <a:rPr lang="en-CA" dirty="0"/>
              <a:t>Provides a complete (and error-free) summary table</a:t>
            </a:r>
          </a:p>
          <a:p>
            <a:pPr lvl="1"/>
            <a:r>
              <a:rPr lang="en-CA" dirty="0"/>
              <a:t>Is searchable and interactive</a:t>
            </a:r>
          </a:p>
          <a:p>
            <a:pPr lvl="1"/>
            <a:endParaRPr lang="en-CA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B8BEA-83CE-ADD2-5D79-87A6476313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dirty="0"/>
              <a:t>Steps</a:t>
            </a:r>
          </a:p>
          <a:p>
            <a:pPr lvl="1"/>
            <a:r>
              <a:rPr lang="en-CA" dirty="0"/>
              <a:t>Converting the text into a database (in MS Excel) </a:t>
            </a:r>
          </a:p>
          <a:p>
            <a:pPr lvl="1"/>
            <a:r>
              <a:rPr lang="en-CA" dirty="0"/>
              <a:t>Adding in modern spellings, to assist modern users in finding words</a:t>
            </a:r>
          </a:p>
          <a:p>
            <a:pPr lvl="2"/>
            <a:r>
              <a:rPr lang="en-CA" dirty="0"/>
              <a:t>E.g., “Economical” for “Oeconomical”</a:t>
            </a:r>
          </a:p>
          <a:p>
            <a:pPr lvl="1"/>
            <a:r>
              <a:rPr lang="en-CA" dirty="0"/>
              <a:t>Generating a digital summary table</a:t>
            </a:r>
          </a:p>
          <a:p>
            <a:pPr lvl="1"/>
            <a:r>
              <a:rPr lang="en-CA" dirty="0"/>
              <a:t>Coding the language rules</a:t>
            </a:r>
          </a:p>
          <a:p>
            <a:pPr lvl="1"/>
            <a:r>
              <a:rPr lang="en-CA" dirty="0"/>
              <a:t>Drawing the elements for characters and coding rules to combine them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7842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AE1B-4939-6825-8CE3-84CC6F58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the Digitization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959A6-D23A-C907-1BEB-A235C12B7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73616" y="2194559"/>
            <a:ext cx="3932583" cy="4024125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Numerical breakdown of word forms</a:t>
            </a:r>
          </a:p>
          <a:p>
            <a:r>
              <a:rPr lang="en-CA" dirty="0"/>
              <a:t>Identification of incomplete grammatical rules</a:t>
            </a:r>
          </a:p>
          <a:p>
            <a:r>
              <a:rPr lang="en-CA" dirty="0"/>
              <a:t>Discovery of publication errors</a:t>
            </a:r>
          </a:p>
          <a:p>
            <a:pPr lvl="1"/>
            <a:r>
              <a:rPr lang="en-CA" dirty="0"/>
              <a:t>Errors in species numbering</a:t>
            </a:r>
          </a:p>
          <a:p>
            <a:pPr lvl="1"/>
            <a:r>
              <a:rPr lang="en-CA" dirty="0"/>
              <a:t>Errors in sample translations and examples</a:t>
            </a:r>
          </a:p>
          <a:p>
            <a:pPr lvl="1"/>
            <a:r>
              <a:rPr lang="en-CA" dirty="0"/>
              <a:t>Many differences between Wilkins’ summary table and the written text</a:t>
            </a:r>
          </a:p>
          <a:p>
            <a:endParaRPr lang="en-CA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075F45C5-D5CE-636C-9D1F-B3B37072DF8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66236027"/>
              </p:ext>
            </p:extLst>
          </p:nvPr>
        </p:nvGraphicFramePr>
        <p:xfrm>
          <a:off x="407504" y="1911535"/>
          <a:ext cx="7076660" cy="43817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6238">
                  <a:extLst>
                    <a:ext uri="{9D8B030D-6E8A-4147-A177-3AD203B41FA5}">
                      <a16:colId xmlns:a16="http://schemas.microsoft.com/office/drawing/2014/main" val="223645084"/>
                    </a:ext>
                  </a:extLst>
                </a:gridCol>
                <a:gridCol w="1005832">
                  <a:extLst>
                    <a:ext uri="{9D8B030D-6E8A-4147-A177-3AD203B41FA5}">
                      <a16:colId xmlns:a16="http://schemas.microsoft.com/office/drawing/2014/main" val="3305821406"/>
                    </a:ext>
                  </a:extLst>
                </a:gridCol>
                <a:gridCol w="875021">
                  <a:extLst>
                    <a:ext uri="{9D8B030D-6E8A-4147-A177-3AD203B41FA5}">
                      <a16:colId xmlns:a16="http://schemas.microsoft.com/office/drawing/2014/main" val="3892132915"/>
                    </a:ext>
                  </a:extLst>
                </a:gridCol>
                <a:gridCol w="1167105">
                  <a:extLst>
                    <a:ext uri="{9D8B030D-6E8A-4147-A177-3AD203B41FA5}">
                      <a16:colId xmlns:a16="http://schemas.microsoft.com/office/drawing/2014/main" val="2455080071"/>
                    </a:ext>
                  </a:extLst>
                </a:gridCol>
                <a:gridCol w="977162">
                  <a:extLst>
                    <a:ext uri="{9D8B030D-6E8A-4147-A177-3AD203B41FA5}">
                      <a16:colId xmlns:a16="http://schemas.microsoft.com/office/drawing/2014/main" val="1591624645"/>
                    </a:ext>
                  </a:extLst>
                </a:gridCol>
                <a:gridCol w="961033">
                  <a:extLst>
                    <a:ext uri="{9D8B030D-6E8A-4147-A177-3AD203B41FA5}">
                      <a16:colId xmlns:a16="http://schemas.microsoft.com/office/drawing/2014/main" val="2480670546"/>
                    </a:ext>
                  </a:extLst>
                </a:gridCol>
                <a:gridCol w="864269">
                  <a:extLst>
                    <a:ext uri="{9D8B030D-6E8A-4147-A177-3AD203B41FA5}">
                      <a16:colId xmlns:a16="http://schemas.microsoft.com/office/drawing/2014/main" val="1045916988"/>
                    </a:ext>
                  </a:extLst>
                </a:gridCol>
              </a:tblGrid>
              <a:tr h="40345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Chapter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Genus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Difference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Species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Radical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Total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3631381102"/>
                  </a:ext>
                </a:extLst>
              </a:tr>
              <a:tr h="46825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Main Entries/ Pairs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(11)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40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250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(2,036)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2,036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2,326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3946708827"/>
                  </a:ext>
                </a:extLst>
              </a:tr>
              <a:tr h="40345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Unpaired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(11)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22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190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(2,036)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249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461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3513804557"/>
                  </a:ext>
                </a:extLst>
              </a:tr>
              <a:tr h="40345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Affinity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9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38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1,321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1,368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207780147"/>
                  </a:ext>
                </a:extLst>
              </a:tr>
              <a:tr h="40345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Opposite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9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20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312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341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1981724692"/>
                  </a:ext>
                </a:extLst>
              </a:tr>
              <a:tr h="46825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Double Opposite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2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154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156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1951982642"/>
                  </a:ext>
                </a:extLst>
              </a:tr>
              <a:tr h="46825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Total Base Entries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—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58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310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—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3,823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4,191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986798783"/>
                  </a:ext>
                </a:extLst>
              </a:tr>
              <a:tr h="40345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Synonyms*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243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765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—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12,067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13,075</a:t>
                      </a:r>
                      <a:endParaRPr lang="en-CA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1425080058"/>
                  </a:ext>
                </a:extLst>
              </a:tr>
              <a:tr h="76006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Total Entries (Original Text)</a:t>
                      </a:r>
                      <a:endParaRPr lang="en-CA" sz="14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(11)</a:t>
                      </a:r>
                      <a:endParaRPr lang="en-CA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301</a:t>
                      </a:r>
                      <a:endParaRPr lang="en-CA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1,075</a:t>
                      </a:r>
                      <a:endParaRPr lang="en-CA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(2,036)</a:t>
                      </a:r>
                      <a:endParaRPr lang="en-CA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15,890</a:t>
                      </a:r>
                      <a:endParaRPr lang="en-CA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653" marR="88653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17,266</a:t>
                      </a:r>
                      <a:endParaRPr lang="en-CA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653" marR="88653" marT="0" marB="0" anchor="ctr"/>
                </a:tc>
                <a:extLst>
                  <a:ext uri="{0D108BD9-81ED-4DB2-BD59-A6C34878D82A}">
                    <a16:rowId xmlns:a16="http://schemas.microsoft.com/office/drawing/2014/main" val="24334564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1508F6-F86A-02BA-657C-A0C188981806}"/>
              </a:ext>
            </a:extLst>
          </p:cNvPr>
          <p:cNvSpPr txBox="1"/>
          <p:nvPr/>
        </p:nvSpPr>
        <p:spPr>
          <a:xfrm>
            <a:off x="407504" y="6513160"/>
            <a:ext cx="64492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*Division not always clear; others might arrive at slightly different numbers</a:t>
            </a:r>
            <a:endParaRPr lang="en-CA" sz="1400" i="1" dirty="0"/>
          </a:p>
        </p:txBody>
      </p:sp>
    </p:spTree>
    <p:extLst>
      <p:ext uri="{BB962C8B-B14F-4D97-AF65-F5344CB8AC3E}">
        <p14:creationId xmlns:p14="http://schemas.microsoft.com/office/powerpoint/2010/main" val="3477139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A4285-3844-ADEC-0088-33FE5F6B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Comparison: Summary Table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CF349-9E32-E354-C4A9-C107EB166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published table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F6D3E-C383-A5D2-A69C-6056985C9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digital table, noting errors and missing entries</a:t>
            </a:r>
            <a:endParaRPr lang="en-CA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508564C-2FE1-2C77-6CA7-FAE566E4031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68580" y="3132138"/>
            <a:ext cx="5141239" cy="3086100"/>
          </a:xfrm>
        </p:spPr>
      </p:pic>
      <p:pic>
        <p:nvPicPr>
          <p:cNvPr id="42" name="Content Placeholder 41">
            <a:extLst>
              <a:ext uri="{FF2B5EF4-FFF2-40B4-BE49-F238E27FC236}">
                <a16:creationId xmlns:a16="http://schemas.microsoft.com/office/drawing/2014/main" id="{AA3A07D4-5ECE-396F-6F42-EEA0A89CD5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1" y="3473449"/>
            <a:ext cx="5303520" cy="2459529"/>
          </a:xfr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0ED64E-CF00-2F64-EB9F-8C5DC69D57AE}"/>
              </a:ext>
            </a:extLst>
          </p:cNvPr>
          <p:cNvCxnSpPr>
            <a:cxnSpLocks/>
          </p:cNvCxnSpPr>
          <p:nvPr/>
        </p:nvCxnSpPr>
        <p:spPr>
          <a:xfrm flipV="1">
            <a:off x="685800" y="4178300"/>
            <a:ext cx="2603500" cy="6061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1758C4-9F56-A127-B1DE-922E3E4FACAA}"/>
              </a:ext>
            </a:extLst>
          </p:cNvPr>
          <p:cNvCxnSpPr>
            <a:cxnSpLocks/>
          </p:cNvCxnSpPr>
          <p:nvPr/>
        </p:nvCxnSpPr>
        <p:spPr>
          <a:xfrm>
            <a:off x="3244850" y="3454400"/>
            <a:ext cx="138430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BBE903-43ED-5B40-FA86-D61B86B64191}"/>
              </a:ext>
            </a:extLst>
          </p:cNvPr>
          <p:cNvCxnSpPr>
            <a:cxnSpLocks/>
          </p:cNvCxnSpPr>
          <p:nvPr/>
        </p:nvCxnSpPr>
        <p:spPr>
          <a:xfrm>
            <a:off x="685800" y="4205288"/>
            <a:ext cx="0" cy="1093174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98A122-EDA1-AF91-C16F-4B95444AEC13}"/>
              </a:ext>
            </a:extLst>
          </p:cNvPr>
          <p:cNvCxnSpPr>
            <a:cxnSpLocks/>
          </p:cNvCxnSpPr>
          <p:nvPr/>
        </p:nvCxnSpPr>
        <p:spPr>
          <a:xfrm flipV="1">
            <a:off x="685800" y="5194300"/>
            <a:ext cx="2603500" cy="104162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3892EB-1F4C-92C6-02EC-35DB95D5B4DC}"/>
              </a:ext>
            </a:extLst>
          </p:cNvPr>
          <p:cNvCxnSpPr>
            <a:cxnSpLocks/>
          </p:cNvCxnSpPr>
          <p:nvPr/>
        </p:nvCxnSpPr>
        <p:spPr>
          <a:xfrm>
            <a:off x="3244850" y="3454400"/>
            <a:ext cx="44450" cy="7239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AA2DCB-5463-69EA-A0D8-A93638F7D1DD}"/>
              </a:ext>
            </a:extLst>
          </p:cNvPr>
          <p:cNvCxnSpPr>
            <a:cxnSpLocks/>
          </p:cNvCxnSpPr>
          <p:nvPr/>
        </p:nvCxnSpPr>
        <p:spPr>
          <a:xfrm>
            <a:off x="3289300" y="4409791"/>
            <a:ext cx="0" cy="782166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6C3A3D-9F01-5CC1-EB05-BFACA357631D}"/>
              </a:ext>
            </a:extLst>
          </p:cNvPr>
          <p:cNvCxnSpPr>
            <a:cxnSpLocks/>
          </p:cNvCxnSpPr>
          <p:nvPr/>
        </p:nvCxnSpPr>
        <p:spPr>
          <a:xfrm flipH="1">
            <a:off x="3289300" y="4371691"/>
            <a:ext cx="133985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E543BBD-C0C6-8DA3-5854-EAB0B8705A01}"/>
              </a:ext>
            </a:extLst>
          </p:cNvPr>
          <p:cNvCxnSpPr>
            <a:cxnSpLocks/>
          </p:cNvCxnSpPr>
          <p:nvPr/>
        </p:nvCxnSpPr>
        <p:spPr>
          <a:xfrm>
            <a:off x="4629150" y="3473449"/>
            <a:ext cx="44450" cy="936342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928C883-FB7C-41E7-96C8-D76353020327}"/>
              </a:ext>
            </a:extLst>
          </p:cNvPr>
          <p:cNvCxnSpPr>
            <a:cxnSpLocks/>
          </p:cNvCxnSpPr>
          <p:nvPr/>
        </p:nvCxnSpPr>
        <p:spPr>
          <a:xfrm flipH="1">
            <a:off x="4681221" y="5740399"/>
            <a:ext cx="130810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8E66266-2C6C-B4C7-C2D8-42A0EC1B73EC}"/>
              </a:ext>
            </a:extLst>
          </p:cNvPr>
          <p:cNvCxnSpPr>
            <a:cxnSpLocks/>
          </p:cNvCxnSpPr>
          <p:nvPr/>
        </p:nvCxnSpPr>
        <p:spPr>
          <a:xfrm flipH="1">
            <a:off x="4673600" y="5191957"/>
            <a:ext cx="130810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D7517FD5-43DA-5E88-8914-D6038C561F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6340" y="6065759"/>
            <a:ext cx="1454881" cy="643813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2BE2E-12BA-A83A-FA8B-36601BD3AF6D}"/>
              </a:ext>
            </a:extLst>
          </p:cNvPr>
          <p:cNvCxnSpPr>
            <a:cxnSpLocks/>
          </p:cNvCxnSpPr>
          <p:nvPr/>
        </p:nvCxnSpPr>
        <p:spPr>
          <a:xfrm flipH="1">
            <a:off x="5981700" y="5191957"/>
            <a:ext cx="7621" cy="548442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7981523-382E-E21E-2982-608EE775B5DF}"/>
              </a:ext>
            </a:extLst>
          </p:cNvPr>
          <p:cNvCxnSpPr>
            <a:cxnSpLocks/>
          </p:cNvCxnSpPr>
          <p:nvPr/>
        </p:nvCxnSpPr>
        <p:spPr>
          <a:xfrm>
            <a:off x="3337561" y="6147347"/>
            <a:ext cx="0" cy="466854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8296967-20B4-AE7A-88E7-306183383DEF}"/>
              </a:ext>
            </a:extLst>
          </p:cNvPr>
          <p:cNvCxnSpPr>
            <a:cxnSpLocks/>
          </p:cNvCxnSpPr>
          <p:nvPr/>
        </p:nvCxnSpPr>
        <p:spPr>
          <a:xfrm flipV="1">
            <a:off x="3315336" y="6581491"/>
            <a:ext cx="1313814" cy="7265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FD245A1-DE52-8134-F750-0A7538B04AE2}"/>
              </a:ext>
            </a:extLst>
          </p:cNvPr>
          <p:cNvCxnSpPr>
            <a:cxnSpLocks/>
          </p:cNvCxnSpPr>
          <p:nvPr/>
        </p:nvCxnSpPr>
        <p:spPr>
          <a:xfrm>
            <a:off x="3337561" y="6180293"/>
            <a:ext cx="128270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31C7EDA-F0E6-26D4-0EED-22E386E688A9}"/>
              </a:ext>
            </a:extLst>
          </p:cNvPr>
          <p:cNvCxnSpPr>
            <a:cxnSpLocks/>
          </p:cNvCxnSpPr>
          <p:nvPr/>
        </p:nvCxnSpPr>
        <p:spPr>
          <a:xfrm>
            <a:off x="4620261" y="6180293"/>
            <a:ext cx="0" cy="408463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F7591F6-36BE-139C-103E-8BE99ECDC8B9}"/>
              </a:ext>
            </a:extLst>
          </p:cNvPr>
          <p:cNvSpPr/>
          <p:nvPr/>
        </p:nvSpPr>
        <p:spPr>
          <a:xfrm>
            <a:off x="6259691" y="3267075"/>
            <a:ext cx="5141238" cy="295116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F8985B4-DBB6-F8F5-623F-ABD4916BE230}"/>
              </a:ext>
            </a:extLst>
          </p:cNvPr>
          <p:cNvCxnSpPr>
            <a:cxnSpLocks/>
          </p:cNvCxnSpPr>
          <p:nvPr/>
        </p:nvCxnSpPr>
        <p:spPr>
          <a:xfrm>
            <a:off x="6489740" y="2973829"/>
            <a:ext cx="959224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AC92399-5FFF-4B60-5883-1A4F031058CD}"/>
              </a:ext>
            </a:extLst>
          </p:cNvPr>
          <p:cNvCxnSpPr>
            <a:cxnSpLocks/>
          </p:cNvCxnSpPr>
          <p:nvPr/>
        </p:nvCxnSpPr>
        <p:spPr>
          <a:xfrm>
            <a:off x="8299490" y="2973829"/>
            <a:ext cx="2425660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2C6ED9B-4320-4830-DDC7-075C6DE031A1}"/>
              </a:ext>
            </a:extLst>
          </p:cNvPr>
          <p:cNvCxnSpPr>
            <a:cxnSpLocks/>
          </p:cNvCxnSpPr>
          <p:nvPr/>
        </p:nvCxnSpPr>
        <p:spPr>
          <a:xfrm>
            <a:off x="4672331" y="5191957"/>
            <a:ext cx="31115" cy="553205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A7F84C6-71C5-5623-0F3E-FD197C904AAB}"/>
              </a:ext>
            </a:extLst>
          </p:cNvPr>
          <p:cNvSpPr/>
          <p:nvPr/>
        </p:nvSpPr>
        <p:spPr>
          <a:xfrm>
            <a:off x="2003426" y="4935326"/>
            <a:ext cx="558800" cy="25663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80FE1-808C-6896-035B-9FD93C65398D}"/>
              </a:ext>
            </a:extLst>
          </p:cNvPr>
          <p:cNvSpPr/>
          <p:nvPr/>
        </p:nvSpPr>
        <p:spPr>
          <a:xfrm>
            <a:off x="4462779" y="6401276"/>
            <a:ext cx="166369" cy="15477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78E26-A2DD-4A2F-AC4D-E690BEF01D12}"/>
              </a:ext>
            </a:extLst>
          </p:cNvPr>
          <p:cNvSpPr/>
          <p:nvPr/>
        </p:nvSpPr>
        <p:spPr>
          <a:xfrm>
            <a:off x="5749430" y="5585629"/>
            <a:ext cx="166369" cy="15477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32894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52F5-DD13-C1E1-D5F6-0D3A0785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Comparison: Word Forms</a:t>
            </a:r>
            <a:endParaRPr lang="en-CA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6BCC0D9-570E-6022-EF10-AC6FE9D614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3976648-C29B-71E0-51FA-41358095E5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62D208-7171-FD1F-037B-F25BC68C0B58}"/>
              </a:ext>
            </a:extLst>
          </p:cNvPr>
          <p:cNvGrpSpPr/>
          <p:nvPr/>
        </p:nvGrpSpPr>
        <p:grpSpPr>
          <a:xfrm>
            <a:off x="685800" y="1938378"/>
            <a:ext cx="5334000" cy="4826086"/>
            <a:chOff x="173038" y="1495425"/>
            <a:chExt cx="5134610" cy="464568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C45BDA5-8233-3914-DBC5-EDADB7073DBF}"/>
                </a:ext>
              </a:extLst>
            </p:cNvPr>
            <p:cNvSpPr/>
            <p:nvPr/>
          </p:nvSpPr>
          <p:spPr>
            <a:xfrm>
              <a:off x="183198" y="1495425"/>
              <a:ext cx="5124450" cy="464568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EF273A2-3A6F-FD2C-5033-E884CB3EB9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038" y="3577450"/>
              <a:ext cx="4639943" cy="202501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43EEE8-E273-5AA3-40C1-56425AD169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038" y="1495425"/>
              <a:ext cx="4476750" cy="208202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4D2A974-C6C8-108F-8FA8-959853C128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038" y="5587221"/>
              <a:ext cx="5124450" cy="55388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04E4E0-2405-4B5E-6BD4-498F1F78477F}"/>
              </a:ext>
            </a:extLst>
          </p:cNvPr>
          <p:cNvGrpSpPr/>
          <p:nvPr/>
        </p:nvGrpSpPr>
        <p:grpSpPr>
          <a:xfrm>
            <a:off x="6161645" y="1985812"/>
            <a:ext cx="5257894" cy="4790483"/>
            <a:chOff x="6161645" y="1973981"/>
            <a:chExt cx="5257894" cy="4790483"/>
          </a:xfrm>
        </p:grpSpPr>
        <p:pic>
          <p:nvPicPr>
            <p:cNvPr id="25" name="Picture 24" descr="A picture containing text, computer, document&#10;&#10;Description automatically generated">
              <a:extLst>
                <a:ext uri="{FF2B5EF4-FFF2-40B4-BE49-F238E27FC236}">
                  <a16:creationId xmlns:a16="http://schemas.microsoft.com/office/drawing/2014/main" id="{F2AA76FA-7956-9476-46EB-C5CC0694BF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161645" y="1973981"/>
              <a:ext cx="2566696" cy="479048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6" name="Picture 25" descr="A picture containing text, computer, document&#10;&#10;Description automatically generated">
              <a:extLst>
                <a:ext uri="{FF2B5EF4-FFF2-40B4-BE49-F238E27FC236}">
                  <a16:creationId xmlns:a16="http://schemas.microsoft.com/office/drawing/2014/main" id="{17B2DA50-0C5E-BE21-73E8-A9407652E6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729371" y="1973981"/>
              <a:ext cx="2690168" cy="479048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BA32A9F-CEEF-C9CC-02F1-1C089F00BCA6}"/>
              </a:ext>
            </a:extLst>
          </p:cNvPr>
          <p:cNvSpPr/>
          <p:nvPr/>
        </p:nvSpPr>
        <p:spPr>
          <a:xfrm>
            <a:off x="4289482" y="2201448"/>
            <a:ext cx="1153889" cy="189980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974DEB-3EB1-37F6-9773-5F8D40CCA309}"/>
              </a:ext>
            </a:extLst>
          </p:cNvPr>
          <p:cNvSpPr/>
          <p:nvPr/>
        </p:nvSpPr>
        <p:spPr>
          <a:xfrm>
            <a:off x="6172200" y="1985812"/>
            <a:ext cx="2556141" cy="4778652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9796BE-A30D-18A3-EBD9-BA1393D80FA7}"/>
              </a:ext>
            </a:extLst>
          </p:cNvPr>
          <p:cNvSpPr/>
          <p:nvPr/>
        </p:nvSpPr>
        <p:spPr>
          <a:xfrm>
            <a:off x="4369581" y="5643289"/>
            <a:ext cx="413472" cy="195033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70D11D-4C35-8DD1-BFF7-A987A7BAFC20}"/>
              </a:ext>
            </a:extLst>
          </p:cNvPr>
          <p:cNvSpPr/>
          <p:nvPr/>
        </p:nvSpPr>
        <p:spPr>
          <a:xfrm>
            <a:off x="4285567" y="4238411"/>
            <a:ext cx="1153889" cy="1936880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ABB3C2-62AE-3814-098D-DA9C2572BD93}"/>
              </a:ext>
            </a:extLst>
          </p:cNvPr>
          <p:cNvSpPr/>
          <p:nvPr/>
        </p:nvSpPr>
        <p:spPr>
          <a:xfrm>
            <a:off x="8758158" y="1983896"/>
            <a:ext cx="2661381" cy="4778652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B9B627-C8C4-3BD0-2961-B125A20C5D29}"/>
              </a:ext>
            </a:extLst>
          </p:cNvPr>
          <p:cNvSpPr/>
          <p:nvPr/>
        </p:nvSpPr>
        <p:spPr>
          <a:xfrm>
            <a:off x="9721515" y="5021180"/>
            <a:ext cx="802105" cy="62211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1483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C3C1-7DE1-D354-C0A1-5793F573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&amp; Questions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9953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6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2" name="Rectangle 1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Content Placeholder 11" descr="A group of people in a room&#10;&#10;Description automatically generated with low confidence">
            <a:extLst>
              <a:ext uri="{FF2B5EF4-FFF2-40B4-BE49-F238E27FC236}">
                <a16:creationId xmlns:a16="http://schemas.microsoft.com/office/drawing/2014/main" id="{ED731053-B4E6-B555-60BB-218BDCFADF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C659A6-AC6E-4FC3-C001-2B0A7C6D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611" y="764373"/>
            <a:ext cx="8987589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Was Wilkins a Digital Humanist?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BBB5-7817-2D58-8309-ECE969309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10820400" cy="40241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Wilkins used advanced technology</a:t>
            </a:r>
          </a:p>
          <a:p>
            <a:pPr lvl="1"/>
            <a:r>
              <a:rPr lang="en-US" sz="2200" dirty="0"/>
              <a:t>The publication of the </a:t>
            </a:r>
            <a:r>
              <a:rPr lang="en-US" sz="2200" i="1" dirty="0"/>
              <a:t>Essay</a:t>
            </a:r>
            <a:r>
              <a:rPr lang="en-US" sz="2200" dirty="0"/>
              <a:t> was only possible thanks to advances in typesetting</a:t>
            </a:r>
          </a:p>
          <a:p>
            <a:r>
              <a:rPr lang="en-US" sz="2400" dirty="0"/>
              <a:t>Though he lacked a computer, the </a:t>
            </a:r>
            <a:r>
              <a:rPr lang="en-US" sz="2400" i="1" dirty="0"/>
              <a:t>Essay </a:t>
            </a:r>
            <a:r>
              <a:rPr lang="en-US" sz="2400" dirty="0"/>
              <a:t>arguably employs computerized techniques</a:t>
            </a:r>
          </a:p>
          <a:p>
            <a:pPr lvl="1"/>
            <a:r>
              <a:rPr lang="en-US" sz="2400" dirty="0"/>
              <a:t>Regularized and quantified set of data</a:t>
            </a:r>
          </a:p>
          <a:p>
            <a:pPr lvl="1"/>
            <a:r>
              <a:rPr lang="en-US" sz="2400" dirty="0"/>
              <a:t>Elements are manipulated using a specified series of rules and axioms</a:t>
            </a:r>
          </a:p>
          <a:p>
            <a:pPr lvl="1"/>
            <a:r>
              <a:rPr lang="en-US" sz="2400" dirty="0"/>
              <a:t>The system is independent of any currently spoken language</a:t>
            </a:r>
          </a:p>
          <a:p>
            <a:r>
              <a:rPr lang="en-US" sz="2400" dirty="0"/>
              <a:t>Wilkins is essentially developing a form of analogue code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1863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8297B7-D266-5169-6FE8-D6C43E39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en-C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8E188B-A986-D3E6-F7FD-11707241D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Lewis, Rhodri. 2012. “The Essay: Wilkins's "Darling".” In </a:t>
            </a:r>
            <a:r>
              <a:rPr lang="en-US" i="1" dirty="0"/>
              <a:t>Language, Mind, and Nature: Artificial Languages in England from Bacon to Locke</a:t>
            </a:r>
            <a:r>
              <a:rPr lang="en-US" dirty="0"/>
              <a:t>, by Rhodri Lewis, 146-187. Cambridge: Cambridge University Press.</a:t>
            </a:r>
          </a:p>
          <a:p>
            <a:r>
              <a:rPr lang="en-US" dirty="0"/>
              <a:t>Lewis, Rhodri. 2002. “The Publication of John Wilkins's 'Essay' (1668): Some Contextual Considerations.” </a:t>
            </a:r>
            <a:r>
              <a:rPr lang="en-US" i="1" dirty="0"/>
              <a:t>Notes and Records of the Royal Society of London </a:t>
            </a:r>
            <a:r>
              <a:rPr lang="en-US" dirty="0"/>
              <a:t>56 (2): 133-146.</a:t>
            </a:r>
          </a:p>
          <a:p>
            <a:r>
              <a:rPr lang="en-US" dirty="0"/>
              <a:t>Markley, Robert. 1993. “Babel Revers'd.” In </a:t>
            </a:r>
            <a:r>
              <a:rPr lang="en-US" i="1" dirty="0"/>
              <a:t>Fallen Languages: Crises of Representation in Newtonian England, 1660-1740</a:t>
            </a:r>
            <a:r>
              <a:rPr lang="en-US" dirty="0"/>
              <a:t>, by Robert Markley, 63-94. Ithaca: Cornell University Press.</a:t>
            </a:r>
          </a:p>
          <a:p>
            <a:r>
              <a:rPr lang="en-US" dirty="0"/>
              <a:t>Tillery, Denise. 2005. “Engendering the Language of the New Science: The Subject of John Wilkins's Language Project.” </a:t>
            </a:r>
            <a:r>
              <a:rPr lang="en-US" i="1" dirty="0"/>
              <a:t>The Eighteenth Century </a:t>
            </a:r>
            <a:r>
              <a:rPr lang="en-US" dirty="0"/>
              <a:t>46 (1): 59-79.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5728960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2609</TotalTime>
  <Words>2305</Words>
  <Application>Microsoft Office PowerPoint</Application>
  <PresentationFormat>Widescreen</PresentationFormat>
  <Paragraphs>277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Century Gothic</vt:lpstr>
      <vt:lpstr>Courier New</vt:lpstr>
      <vt:lpstr>Symbol</vt:lpstr>
      <vt:lpstr>Wingdings</vt:lpstr>
      <vt:lpstr>Vapor Trail</vt:lpstr>
      <vt:lpstr>John Wilkins Speaks: A Digitization of the Essay Towards a Real Character, and a Philosophical Language</vt:lpstr>
      <vt:lpstr>Preparing the Essay</vt:lpstr>
      <vt:lpstr>A Text Vast in Scope</vt:lpstr>
      <vt:lpstr>Wilkins’ Categorization Scheme</vt:lpstr>
      <vt:lpstr>Example of the Tiers</vt:lpstr>
      <vt:lpstr>(Part of) The Summary Table</vt:lpstr>
      <vt:lpstr>The Language: Latinized Form</vt:lpstr>
      <vt:lpstr>The Characters</vt:lpstr>
      <vt:lpstr>Latin Script vs. Characters</vt:lpstr>
      <vt:lpstr>The Digitization</vt:lpstr>
      <vt:lpstr>Methodology</vt:lpstr>
      <vt:lpstr>Insights from the Digitization</vt:lpstr>
      <vt:lpstr>Comparison: Summary Table</vt:lpstr>
      <vt:lpstr>Comparison: Word Forms</vt:lpstr>
      <vt:lpstr>Assessment &amp; Questions</vt:lpstr>
      <vt:lpstr>Was Wilkins a Digital Humanist?</vt:lpstr>
      <vt:lpstr>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Wilkins Speaks: A Digitization of the Essay Towards a Real Character, and a Philosophical Language</dc:title>
  <dc:creator>Aidan Wakely-Mulroney</dc:creator>
  <cp:lastModifiedBy>Aidan Wakely-Mulroney</cp:lastModifiedBy>
  <cp:revision>3</cp:revision>
  <dcterms:created xsi:type="dcterms:W3CDTF">2023-04-05T14:47:46Z</dcterms:created>
  <dcterms:modified xsi:type="dcterms:W3CDTF">2026-03-17T15:21:10Z</dcterms:modified>
</cp:coreProperties>
</file>